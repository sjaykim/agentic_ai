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4"/>
  </p:sldMasterIdLst>
  <p:notesMasterIdLst>
    <p:notesMasterId r:id="rId24"/>
  </p:notesMasterIdLst>
  <p:sldIdLst>
    <p:sldId id="256" r:id="rId5"/>
    <p:sldId id="269" r:id="rId6"/>
    <p:sldId id="282" r:id="rId7"/>
    <p:sldId id="283" r:id="rId8"/>
    <p:sldId id="257" r:id="rId9"/>
    <p:sldId id="284" r:id="rId10"/>
    <p:sldId id="288" r:id="rId11"/>
    <p:sldId id="270" r:id="rId12"/>
    <p:sldId id="286" r:id="rId13"/>
    <p:sldId id="287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81" r:id="rId22"/>
    <p:sldId id="275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4" autoAdjust="0"/>
    <p:restoredTop sz="79888" autoAdjust="0"/>
  </p:normalViewPr>
  <p:slideViewPr>
    <p:cSldViewPr snapToGrid="0">
      <p:cViewPr varScale="1">
        <p:scale>
          <a:sx n="128" d="100"/>
          <a:sy n="128" d="100"/>
        </p:scale>
        <p:origin x="15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A4EDFB-6D84-4C40-A6D5-5A9143A46BD7}" type="datetimeFigureOut">
              <a:rPr lang="ko-KR" altLang="en-US" smtClean="0"/>
              <a:t>2025-04-24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B0CAEA-3F2E-455B-82F0-2ADE90FB21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068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0CAEA-3F2E-455B-82F0-2ADE90FB21C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2829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0CAEA-3F2E-455B-82F0-2ADE90FB21C8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0490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4CFEB-2272-6972-A06F-90693D984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02D27D-A72A-C4B3-CD89-C739542F16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BD90713-18E4-D1BD-2EBE-DD183EBC0C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69752B-D059-4192-C698-E524C3087E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0CAEA-3F2E-455B-82F0-2ADE90FB21C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9671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4FAA9-F3DA-472C-FB24-C4B02794F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E21F14E-4C36-127C-4F03-A4006B4885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174405-4460-0C6C-4E97-DE1FC590FD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F425C6-9040-8B78-4589-0E4F467367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0CAEA-3F2E-455B-82F0-2ADE90FB21C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49006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0CAEA-3F2E-455B-82F0-2ADE90FB21C8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7446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FCB09-45AA-5261-6963-CA15535C3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BD2F25-0222-9CE9-51CE-0800CFB23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A7553C-90AB-CA33-F0AA-0CE3DCFC3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91F6F0-A9AB-6B85-0924-F0D9747CB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0CAEA-3F2E-455B-82F0-2ADE90FB21C8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37894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19157-FCF9-F919-067C-ADF067261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0BB3F2-2759-6238-8862-F2E627531C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D79A8C-20C2-33C4-7A46-FFC52FC4A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A75A5C-01C3-E977-E5B6-4B115F76B0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0CAEA-3F2E-455B-82F0-2ADE90FB21C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21788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0CAEA-3F2E-455B-82F0-2ADE90FB21C8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37387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C251C-C8B4-CABB-47CB-EB564FA10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2D69CD-1D89-484A-B141-0A0128C318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609B144-7DA9-6F61-DAD3-936A1629F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65A36C-71AA-7E9F-52F9-A63DA7BC9B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0CAEA-3F2E-455B-82F0-2ADE90FB21C8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31769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19BD9-63DD-F4FF-2ABF-2283672F2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93E377-2BDD-E86F-620F-1B2EC20336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0676B23-43B4-A5A4-5E05-5279496203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74E870-2E14-2B25-7859-50F2788526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0CAEA-3F2E-455B-82F0-2ADE90FB21C8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87915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529F8-EA34-AFB1-37B7-F80AB5467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88CA378-F3E9-2573-B1D7-44B9CF502F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E838689-57E8-3802-ECF3-833AF00020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95F201-43F7-8545-B315-75C0C08A35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0CAEA-3F2E-455B-82F0-2ADE90FB21C8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15633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04E0C-855C-41AE-DDB2-FF9DD1DD5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88D1C5-CD03-A215-A24A-F8BAA5C8B1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D0403B7-0BBD-34DE-2EFD-389A72A4E7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D186D5-0669-470D-A975-910D743B6D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0CAEA-3F2E-455B-82F0-2ADE90FB21C8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21152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30260-C5F3-74B4-283E-E7EE82CA1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88C9D4-3FD8-A4E5-59F8-7D330F3DE8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946E249-3935-9778-D0E8-D706539B6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0EFA4E-8975-4230-1E95-4E7BC73AD7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0CAEA-3F2E-455B-82F0-2ADE90FB21C8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62980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1B1E6-24C9-DBFC-B1F8-0D5AF8B6A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8D16B9F-D307-0AD6-B88B-A2B7FE56D7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74E317-BED9-9039-488B-5F33AF22E2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1ACBB8-FEF2-0E55-DE25-7488DD0BC1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0CAEA-3F2E-455B-82F0-2ADE90FB21C8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92305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A30AA-F4E9-093C-7AC2-2CA876C30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B40024-7AC0-6E46-72B3-0DBFFD9835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323158C-3A31-3667-3548-8355ECAB54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AB3DC7-76B6-D46F-9699-CD6FE47CB2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0CAEA-3F2E-455B-82F0-2ADE90FB21C8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13655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56280-B293-BCB6-8806-8C127DAFE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FA8B6F-82FE-5E47-D69F-A83AB3CEAF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7D5F33-FF68-0F66-0E98-0840D52D93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F148FE-4A0E-517B-F5D2-1AD0331788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0CAEA-3F2E-455B-82F0-2ADE90FB21C8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30419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D5D19-79B2-38EA-18D3-9ADAA5800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D29A43-A2A9-99BD-3384-EF83C57CD9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300062-F15E-C474-CFAB-8B7F4513BD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5B25CB-2A64-AFCD-98A3-7403EE2B71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0CAEA-3F2E-455B-82F0-2ADE90FB21C8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1606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B0CAEA-3F2E-455B-82F0-2ADE90FB21C8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765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F1401-E8AF-4947-8848-FE78207219E4}" type="datetime1">
              <a:rPr lang="en-US" altLang="ko-KR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707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768EC-90FD-4FDF-89B7-229A4BF9AB40}" type="datetime1">
              <a:rPr lang="en-US" altLang="ko-KR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089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0C436-500D-46DA-B5DA-A5B488CE030E}" type="datetime1">
              <a:rPr lang="en-US" altLang="ko-KR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7028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57AC8-CE5E-432F-9D35-B6DB543425A2}" type="datetime1">
              <a:rPr lang="en-US" altLang="ko-KR" smtClean="0"/>
              <a:t>4/24/2025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83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3E2061-731A-4686-8391-4C4C154BAD47}" type="datetime1">
              <a:rPr lang="en-US" altLang="ko-KR" smtClean="0"/>
              <a:t>4/24/2025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860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CA408-B59A-4FF5-BFA0-26F8A7DA74F5}" type="datetime1">
              <a:rPr lang="en-US" altLang="ko-KR" smtClean="0"/>
              <a:t>4/24/2025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276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598C8-6D2B-4586-A8EA-106F02C695C5}" type="datetime1">
              <a:rPr lang="en-US" altLang="ko-KR" smtClean="0"/>
              <a:t>4/24/2025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057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5B65C-259E-46D5-908A-828F05D2C4C2}" type="datetime1">
              <a:rPr lang="en-US" altLang="ko-KR" smtClean="0"/>
              <a:t>4/24/2025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29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E76B7-6804-4622-86EA-AA34CCC214C2}" type="datetime1">
              <a:rPr lang="en-US" altLang="ko-KR" smtClean="0"/>
              <a:t>4/24/2025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482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001808-61C2-44E8-BD6A-27EE4632C9D8}" type="datetime1">
              <a:rPr lang="en-US" altLang="ko-KR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905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5A738-8138-4EB9-B193-81B2853CC5BA}" type="datetime1">
              <a:rPr lang="en-US" altLang="ko-KR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6380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900" b="0" cap="none" spc="150" baseline="0">
                <a:solidFill>
                  <a:schemeClr val="tx1"/>
                </a:solidFill>
              </a:defRPr>
            </a:lvl1pPr>
          </a:lstStyle>
          <a:p>
            <a:fld id="{A799A00B-B1A7-49A6-AF5B-99E5DE81447F}" type="datetime1">
              <a:rPr lang="en-US" altLang="ko-KR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900" b="0" cap="none" spc="15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900" b="0" cap="all" spc="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8677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54" r:id="rId6"/>
    <p:sldLayoutId id="2147483750" r:id="rId7"/>
    <p:sldLayoutId id="2147483751" r:id="rId8"/>
    <p:sldLayoutId id="2147483752" r:id="rId9"/>
    <p:sldLayoutId id="2147483753" r:id="rId10"/>
    <p:sldLayoutId id="2147483755" r:id="rId11"/>
  </p:sldLayoutIdLst>
  <p:hf hdr="0" ftr="0" dt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4000" b="1" kern="1200" spc="9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 spc="9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 spc="9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 spc="9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 spc="9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 spc="9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15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9E97014-78E0-5FF4-BD21-98D53CD5A3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573" y="1371600"/>
            <a:ext cx="3250069" cy="2696866"/>
          </a:xfrm>
        </p:spPr>
        <p:txBody>
          <a:bodyPr anchor="t">
            <a:normAutofit/>
          </a:bodyPr>
          <a:lstStyle/>
          <a:p>
            <a:r>
              <a:rPr lang="en-US" altLang="ko-KR" sz="4400" dirty="0"/>
              <a:t>AI Prompt </a:t>
            </a:r>
            <a:r>
              <a:rPr lang="ko-KR" altLang="en-US" sz="4400" dirty="0"/>
              <a:t>프로젝트</a:t>
            </a:r>
            <a:br>
              <a:rPr lang="en-US" altLang="ko-KR" sz="4400" dirty="0"/>
            </a:br>
            <a:r>
              <a:rPr lang="en-US" altLang="ko-KR" sz="4400" dirty="0"/>
              <a:t>(RAG)</a:t>
            </a:r>
            <a:endParaRPr lang="ko-KR" altLang="en-US" sz="44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428FE0-A9DF-2DA8-1543-811F33BC61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950" y="4532626"/>
            <a:ext cx="3250068" cy="1140304"/>
          </a:xfrm>
        </p:spPr>
        <p:txBody>
          <a:bodyPr anchor="b">
            <a:normAutofit/>
          </a:bodyPr>
          <a:lstStyle/>
          <a:p>
            <a:r>
              <a:rPr lang="en-US" altLang="ko-KR"/>
              <a:t>AI</a:t>
            </a:r>
            <a:r>
              <a:rPr lang="ko-KR" altLang="en-US"/>
              <a:t> </a:t>
            </a:r>
            <a:r>
              <a:rPr lang="en-US" altLang="ko-KR"/>
              <a:t>Tech lab</a:t>
            </a:r>
          </a:p>
          <a:p>
            <a:r>
              <a:rPr lang="ko-KR" altLang="en-US"/>
              <a:t>김선준</a:t>
            </a:r>
            <a:endParaRPr lang="en-US" altLang="ko-KR"/>
          </a:p>
        </p:txBody>
      </p:sp>
      <p:cxnSp>
        <p:nvCxnSpPr>
          <p:cNvPr id="34" name="Straight Connector 17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3">
            <a:extLst>
              <a:ext uri="{FF2B5EF4-FFF2-40B4-BE49-F238E27FC236}">
                <a16:creationId xmlns:a16="http://schemas.microsoft.com/office/drawing/2014/main" id="{33357029-0EDF-2151-AE7D-346182860D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84" b="64"/>
          <a:stretch/>
        </p:blipFill>
        <p:spPr>
          <a:xfrm>
            <a:off x="4444723" y="1474712"/>
            <a:ext cx="7086286" cy="3985985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F0D12E-2CBA-1DE9-593E-34DC6E1BC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267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7BF71C-4069-2280-1E69-E925647AC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/>
              <a:t>Contents</a:t>
            </a:r>
            <a:r>
              <a:rPr lang="ko-KR" altLang="en-US" sz="3000" dirty="0"/>
              <a:t> </a:t>
            </a:r>
            <a:r>
              <a:rPr lang="en-US" altLang="ko-KR" sz="3000" dirty="0"/>
              <a:t>table</a:t>
            </a:r>
            <a:endParaRPr lang="ko-KR" altLang="en-US" sz="3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6653E1-C42D-D7CF-A89D-66C719ACB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dirty="0"/>
              <a:t>RAG </a:t>
            </a:r>
            <a:r>
              <a:rPr lang="ko-KR" altLang="en-US" dirty="0"/>
              <a:t>개요</a:t>
            </a:r>
            <a:endParaRPr lang="en-US" altLang="ko-KR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dirty="0"/>
              <a:t>RAG </a:t>
            </a:r>
            <a:r>
              <a:rPr lang="ko-KR" altLang="en-US" dirty="0"/>
              <a:t>구성 요소별 툴 개념</a:t>
            </a:r>
            <a:endParaRPr lang="en-US" altLang="ko-KR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dirty="0"/>
              <a:t>RAG</a:t>
            </a:r>
            <a:r>
              <a:rPr lang="ko-KR" altLang="en-US" dirty="0"/>
              <a:t> 시스템 구축</a:t>
            </a:r>
            <a:endParaRPr lang="en-US" altLang="ko-KR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dirty="0"/>
              <a:t>결론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E69AF7-EF4B-88B6-79E7-432099B84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700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37C01-3C0F-EC6D-AC6B-707E59ECF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21D538-65F8-3DC6-5F43-247BA2DB6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000" dirty="0"/>
              <a:t>RAG </a:t>
            </a:r>
            <a:r>
              <a:rPr lang="ko-KR" altLang="en-US" sz="3000" dirty="0"/>
              <a:t>개요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4AF6FF-55B7-7C6D-CF95-FBF897F71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8106355" cy="3566160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RAG (Retrieval-Augmented Generation)</a:t>
            </a:r>
            <a:r>
              <a:rPr lang="ko-KR" altLang="en-US" dirty="0"/>
              <a:t>이란</a:t>
            </a:r>
            <a:r>
              <a:rPr lang="en-US" altLang="ko-KR" dirty="0"/>
              <a:t>?</a:t>
            </a:r>
          </a:p>
          <a:p>
            <a:r>
              <a:rPr lang="en-US" altLang="ko-KR" sz="1400" dirty="0"/>
              <a:t>RAG</a:t>
            </a:r>
            <a:r>
              <a:rPr lang="ko-KR" altLang="en-US" sz="1400" dirty="0"/>
              <a:t>는 </a:t>
            </a:r>
            <a:r>
              <a:rPr lang="en-US" altLang="ko-KR" sz="1400" dirty="0"/>
              <a:t>“</a:t>
            </a:r>
            <a:r>
              <a:rPr lang="ko-KR" altLang="en-US" sz="1400" dirty="0"/>
              <a:t>검색 기반 생성</a:t>
            </a:r>
            <a:r>
              <a:rPr lang="en-US" altLang="ko-KR" sz="1400" dirty="0"/>
              <a:t>“ </a:t>
            </a:r>
            <a:r>
              <a:rPr lang="ko-KR" altLang="en-US" sz="1400" dirty="0"/>
              <a:t>기법으로</a:t>
            </a:r>
            <a:r>
              <a:rPr lang="en-US" altLang="ko-KR" sz="1400" dirty="0"/>
              <a:t>, </a:t>
            </a:r>
            <a:r>
              <a:rPr lang="ko-KR" altLang="en-US" sz="1400" dirty="0"/>
              <a:t>단순히 </a:t>
            </a:r>
            <a:r>
              <a:rPr lang="en-US" altLang="ko-KR" sz="1400" dirty="0"/>
              <a:t>LLM</a:t>
            </a:r>
            <a:r>
              <a:rPr lang="ko-KR" altLang="en-US" sz="1400" dirty="0"/>
              <a:t>이 기억하고 있는 지식만 사용하는 것이 아니라</a:t>
            </a:r>
            <a:r>
              <a:rPr lang="en-US" altLang="ko-KR" sz="1400" dirty="0"/>
              <a:t>, </a:t>
            </a:r>
            <a:r>
              <a:rPr lang="ko-KR" altLang="en-US" sz="1400" dirty="0"/>
              <a:t>외부 문서를 검색해서 답변에 생성에 활용하는 방식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dirty="0"/>
              <a:t>필요성</a:t>
            </a:r>
            <a:endParaRPr lang="en-US" altLang="ko-KR" dirty="0"/>
          </a:p>
          <a:p>
            <a:r>
              <a:rPr lang="en-US" altLang="ko-KR" sz="1400" dirty="0"/>
              <a:t>LLM</a:t>
            </a:r>
            <a:r>
              <a:rPr lang="ko-KR" altLang="en-US" sz="1400" dirty="0"/>
              <a:t>은 최신 정보에 대해 모른다</a:t>
            </a:r>
            <a:endParaRPr lang="en-US" altLang="ko-KR" sz="1400" dirty="0"/>
          </a:p>
          <a:p>
            <a:r>
              <a:rPr lang="ko-KR" altLang="en-US" sz="1400" dirty="0"/>
              <a:t>모르는 정보에 대해 거짓말을 할 수 있다 </a:t>
            </a:r>
            <a:r>
              <a:rPr lang="en-US" altLang="ko-KR" sz="1400" dirty="0"/>
              <a:t>(</a:t>
            </a:r>
            <a:r>
              <a:rPr lang="en-US" altLang="ko-KR" sz="1400" dirty="0" err="1"/>
              <a:t>Halucination</a:t>
            </a:r>
            <a:r>
              <a:rPr lang="en-US" altLang="ko-KR" sz="1400" dirty="0"/>
              <a:t>)</a:t>
            </a:r>
            <a:br>
              <a:rPr lang="en-US" altLang="ko-KR" dirty="0"/>
            </a:b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421583-D7B2-59BC-5BD0-3F5A9613D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012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7C38C-37B7-4E81-AA65-CF8B37D2A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C68D0F-C5F9-BB4B-B036-9CD01B177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767" y="1377451"/>
            <a:ext cx="10890929" cy="1097280"/>
          </a:xfrm>
        </p:spPr>
        <p:txBody>
          <a:bodyPr/>
          <a:lstStyle/>
          <a:p>
            <a:r>
              <a:rPr lang="en-US" altLang="ko-KR" sz="3000" dirty="0"/>
              <a:t>RAG </a:t>
            </a:r>
            <a:r>
              <a:rPr lang="ko-KR" altLang="en-US" sz="3000" dirty="0"/>
              <a:t>개요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CD0BBF-4E6A-56A8-BBE5-2786BC4A8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4</a:t>
            </a:fld>
            <a:endParaRPr lang="en-US" dirty="0"/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5B2946AA-6C1D-D3FA-6F43-3A884A6A2535}"/>
              </a:ext>
            </a:extLst>
          </p:cNvPr>
          <p:cNvGrpSpPr/>
          <p:nvPr/>
        </p:nvGrpSpPr>
        <p:grpSpPr>
          <a:xfrm>
            <a:off x="629073" y="1603227"/>
            <a:ext cx="10933854" cy="4115861"/>
            <a:chOff x="566379" y="1364688"/>
            <a:chExt cx="10933854" cy="4115861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02657CC2-8FF9-47C1-C256-64ED1B84BC7B}"/>
                </a:ext>
              </a:extLst>
            </p:cNvPr>
            <p:cNvSpPr/>
            <p:nvPr/>
          </p:nvSpPr>
          <p:spPr>
            <a:xfrm>
              <a:off x="2252463" y="2022615"/>
              <a:ext cx="5685182" cy="345793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A8370411-7333-C842-35F9-0A34E78950A8}"/>
                </a:ext>
              </a:extLst>
            </p:cNvPr>
            <p:cNvSpPr/>
            <p:nvPr/>
          </p:nvSpPr>
          <p:spPr>
            <a:xfrm>
              <a:off x="566379" y="4475177"/>
              <a:ext cx="1411357" cy="695739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Query</a:t>
              </a:r>
              <a:endParaRPr lang="ko-KR" altLang="en-US" dirty="0"/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04A048D9-8A2D-85BC-0637-20E594778402}"/>
                </a:ext>
              </a:extLst>
            </p:cNvPr>
            <p:cNvSpPr/>
            <p:nvPr/>
          </p:nvSpPr>
          <p:spPr>
            <a:xfrm>
              <a:off x="2470718" y="4475176"/>
              <a:ext cx="1411357" cy="695739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Embedding</a:t>
              </a:r>
              <a:endParaRPr lang="ko-KR" altLang="en-US" dirty="0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302084C6-065B-48AA-5FEE-59477EA44FF8}"/>
                </a:ext>
              </a:extLst>
            </p:cNvPr>
            <p:cNvSpPr/>
            <p:nvPr/>
          </p:nvSpPr>
          <p:spPr>
            <a:xfrm>
              <a:off x="4375057" y="4475176"/>
              <a:ext cx="1411357" cy="695739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Search</a:t>
              </a:r>
              <a:r>
                <a:rPr lang="ko-KR" altLang="en-US" dirty="0"/>
                <a:t> </a:t>
              </a:r>
              <a:r>
                <a:rPr lang="en-US" altLang="ko-KR" dirty="0"/>
                <a:t>Docs</a:t>
              </a:r>
              <a:endParaRPr lang="ko-KR" altLang="en-US" dirty="0"/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4B2E53A7-E392-A79F-623F-71DD82A56948}"/>
                </a:ext>
              </a:extLst>
            </p:cNvPr>
            <p:cNvGrpSpPr/>
            <p:nvPr/>
          </p:nvGrpSpPr>
          <p:grpSpPr>
            <a:xfrm>
              <a:off x="6556202" y="2910223"/>
              <a:ext cx="857743" cy="1001889"/>
              <a:chOff x="6988866" y="2971800"/>
              <a:chExt cx="1212574" cy="1371600"/>
            </a:xfrm>
            <a:solidFill>
              <a:schemeClr val="accent1">
                <a:lumMod val="60000"/>
                <a:lumOff val="40000"/>
              </a:schemeClr>
            </a:solidFill>
          </p:grpSpPr>
          <p:sp>
            <p:nvSpPr>
              <p:cNvPr id="14" name="사각형: 잘린 한쪽 모서리 13">
                <a:extLst>
                  <a:ext uri="{FF2B5EF4-FFF2-40B4-BE49-F238E27FC236}">
                    <a16:creationId xmlns:a16="http://schemas.microsoft.com/office/drawing/2014/main" id="{C39E6DD2-55D5-1422-207E-762D2660FFAA}"/>
                  </a:ext>
                </a:extLst>
              </p:cNvPr>
              <p:cNvSpPr/>
              <p:nvPr/>
            </p:nvSpPr>
            <p:spPr>
              <a:xfrm>
                <a:off x="6988866" y="2971800"/>
                <a:ext cx="755374" cy="914400"/>
              </a:xfrm>
              <a:prstGeom prst="snip1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5" name="사각형: 잘린 한쪽 모서리 14">
                <a:extLst>
                  <a:ext uri="{FF2B5EF4-FFF2-40B4-BE49-F238E27FC236}">
                    <a16:creationId xmlns:a16="http://schemas.microsoft.com/office/drawing/2014/main" id="{E9ACB640-A746-1971-2434-75C2D7A6BB30}"/>
                  </a:ext>
                </a:extLst>
              </p:cNvPr>
              <p:cNvSpPr/>
              <p:nvPr/>
            </p:nvSpPr>
            <p:spPr>
              <a:xfrm>
                <a:off x="7141266" y="3124200"/>
                <a:ext cx="755374" cy="914400"/>
              </a:xfrm>
              <a:prstGeom prst="snip1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" name="사각형: 잘린 한쪽 모서리 15">
                <a:extLst>
                  <a:ext uri="{FF2B5EF4-FFF2-40B4-BE49-F238E27FC236}">
                    <a16:creationId xmlns:a16="http://schemas.microsoft.com/office/drawing/2014/main" id="{6E50661D-56FF-8E5C-D698-19AB09470D86}"/>
                  </a:ext>
                </a:extLst>
              </p:cNvPr>
              <p:cNvSpPr/>
              <p:nvPr/>
            </p:nvSpPr>
            <p:spPr>
              <a:xfrm>
                <a:off x="7293666" y="3276600"/>
                <a:ext cx="755374" cy="914400"/>
              </a:xfrm>
              <a:prstGeom prst="snip1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7" name="사각형: 잘린 한쪽 모서리 16">
                <a:extLst>
                  <a:ext uri="{FF2B5EF4-FFF2-40B4-BE49-F238E27FC236}">
                    <a16:creationId xmlns:a16="http://schemas.microsoft.com/office/drawing/2014/main" id="{FA234FB8-CA93-F3DB-4631-189197E1DCEF}"/>
                  </a:ext>
                </a:extLst>
              </p:cNvPr>
              <p:cNvSpPr/>
              <p:nvPr/>
            </p:nvSpPr>
            <p:spPr>
              <a:xfrm>
                <a:off x="7446066" y="3429000"/>
                <a:ext cx="755374" cy="914400"/>
              </a:xfrm>
              <a:prstGeom prst="snip1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b="1" dirty="0"/>
                  <a:t>Docs</a:t>
                </a:r>
                <a:endParaRPr lang="ko-KR" altLang="en-US" sz="800" b="1" dirty="0"/>
              </a:p>
            </p:txBody>
          </p:sp>
        </p:grpSp>
        <p:sp>
          <p:nvSpPr>
            <p:cNvPr id="19" name="순서도: 자기 디스크 18">
              <a:extLst>
                <a:ext uri="{FF2B5EF4-FFF2-40B4-BE49-F238E27FC236}">
                  <a16:creationId xmlns:a16="http://schemas.microsoft.com/office/drawing/2014/main" id="{78DBB226-D19F-0F4C-E86F-7A9B48359F94}"/>
                </a:ext>
              </a:extLst>
            </p:cNvPr>
            <p:cNvSpPr/>
            <p:nvPr/>
          </p:nvSpPr>
          <p:spPr>
            <a:xfrm>
              <a:off x="4623535" y="2103006"/>
              <a:ext cx="914400" cy="1097280"/>
            </a:xfrm>
            <a:prstGeom prst="flowChartMagneticDisk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VectorDB</a:t>
              </a:r>
              <a:endParaRPr lang="ko-KR" altLang="en-US" dirty="0"/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57DA6C10-E85D-4B17-4498-4E24D9CE8AA5}"/>
                </a:ext>
              </a:extLst>
            </p:cNvPr>
            <p:cNvSpPr/>
            <p:nvPr/>
          </p:nvSpPr>
          <p:spPr>
            <a:xfrm>
              <a:off x="6279396" y="4475176"/>
              <a:ext cx="1411357" cy="695739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Prompt</a:t>
              </a:r>
              <a:endParaRPr lang="ko-KR" altLang="en-US" dirty="0"/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C565488B-02F8-A663-34C5-AF6FB66949C6}"/>
                </a:ext>
              </a:extLst>
            </p:cNvPr>
            <p:cNvSpPr/>
            <p:nvPr/>
          </p:nvSpPr>
          <p:spPr>
            <a:xfrm>
              <a:off x="8184537" y="4480144"/>
              <a:ext cx="1411357" cy="695739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LLM</a:t>
              </a:r>
              <a:endParaRPr lang="ko-KR" altLang="en-US" dirty="0"/>
            </a:p>
          </p:txBody>
        </p:sp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2E5761CF-7F3E-BA32-C623-D0A2764B09E1}"/>
                </a:ext>
              </a:extLst>
            </p:cNvPr>
            <p:cNvSpPr/>
            <p:nvPr/>
          </p:nvSpPr>
          <p:spPr>
            <a:xfrm>
              <a:off x="10088876" y="4475175"/>
              <a:ext cx="1411357" cy="695739"/>
            </a:xfrm>
            <a:prstGeom prst="round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Answer</a:t>
              </a:r>
              <a:endParaRPr lang="ko-KR" altLang="en-US" dirty="0"/>
            </a:p>
          </p:txBody>
        </p: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303C6E97-9CAF-EE84-22A2-9E64108E3A20}"/>
                </a:ext>
              </a:extLst>
            </p:cNvPr>
            <p:cNvCxnSpPr>
              <a:cxnSpLocks/>
              <a:stCxn id="5" idx="3"/>
              <a:endCxn id="6" idx="1"/>
            </p:cNvCxnSpPr>
            <p:nvPr/>
          </p:nvCxnSpPr>
          <p:spPr>
            <a:xfrm flipV="1">
              <a:off x="1977736" y="4823046"/>
              <a:ext cx="492982" cy="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C6FF1620-8CCD-4C8E-B311-70E42B9FC883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>
              <a:off x="3882075" y="4823046"/>
              <a:ext cx="49298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E37675CA-4FC8-B233-0F5A-1B1863E69110}"/>
                </a:ext>
              </a:extLst>
            </p:cNvPr>
            <p:cNvCxnSpPr>
              <a:cxnSpLocks/>
              <a:stCxn id="7" idx="3"/>
              <a:endCxn id="20" idx="1"/>
            </p:cNvCxnSpPr>
            <p:nvPr/>
          </p:nvCxnSpPr>
          <p:spPr>
            <a:xfrm>
              <a:off x="5786414" y="4823046"/>
              <a:ext cx="49298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E6416377-8CFB-A6C4-EA9A-6037FDB207C2}"/>
                </a:ext>
              </a:extLst>
            </p:cNvPr>
            <p:cNvCxnSpPr>
              <a:cxnSpLocks/>
              <a:stCxn id="20" idx="3"/>
              <a:endCxn id="21" idx="1"/>
            </p:cNvCxnSpPr>
            <p:nvPr/>
          </p:nvCxnSpPr>
          <p:spPr>
            <a:xfrm>
              <a:off x="7690753" y="4823046"/>
              <a:ext cx="493784" cy="496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529B94A7-77A5-8280-1219-A3F10E4EA90F}"/>
                </a:ext>
              </a:extLst>
            </p:cNvPr>
            <p:cNvCxnSpPr>
              <a:cxnSpLocks/>
              <a:stCxn id="21" idx="3"/>
              <a:endCxn id="22" idx="1"/>
            </p:cNvCxnSpPr>
            <p:nvPr/>
          </p:nvCxnSpPr>
          <p:spPr>
            <a:xfrm flipV="1">
              <a:off x="9595894" y="4823045"/>
              <a:ext cx="492982" cy="496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D9D2E279-3103-D620-5B95-1AF5002D264A}"/>
                </a:ext>
              </a:extLst>
            </p:cNvPr>
            <p:cNvCxnSpPr>
              <a:cxnSpLocks/>
              <a:stCxn id="19" idx="3"/>
              <a:endCxn id="7" idx="0"/>
            </p:cNvCxnSpPr>
            <p:nvPr/>
          </p:nvCxnSpPr>
          <p:spPr>
            <a:xfrm>
              <a:off x="5080735" y="3200286"/>
              <a:ext cx="1" cy="127489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직선 화살표 연결선 43">
              <a:extLst>
                <a:ext uri="{FF2B5EF4-FFF2-40B4-BE49-F238E27FC236}">
                  <a16:creationId xmlns:a16="http://schemas.microsoft.com/office/drawing/2014/main" id="{900F6202-2E71-1331-1092-E67DFD2BDC47}"/>
                </a:ext>
              </a:extLst>
            </p:cNvPr>
            <p:cNvCxnSpPr>
              <a:cxnSpLocks/>
            </p:cNvCxnSpPr>
            <p:nvPr/>
          </p:nvCxnSpPr>
          <p:spPr>
            <a:xfrm>
              <a:off x="5080735" y="3526958"/>
              <a:ext cx="1432893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화살표 연결선 45">
              <a:extLst>
                <a:ext uri="{FF2B5EF4-FFF2-40B4-BE49-F238E27FC236}">
                  <a16:creationId xmlns:a16="http://schemas.microsoft.com/office/drawing/2014/main" id="{DD66F974-3982-ECE8-010B-49BAFE2ADC5E}"/>
                </a:ext>
              </a:extLst>
            </p:cNvPr>
            <p:cNvCxnSpPr>
              <a:cxnSpLocks/>
              <a:endCxn id="20" idx="0"/>
            </p:cNvCxnSpPr>
            <p:nvPr/>
          </p:nvCxnSpPr>
          <p:spPr>
            <a:xfrm>
              <a:off x="6985074" y="3912112"/>
              <a:ext cx="1" cy="56306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B5FF0631-7C24-C23B-56F9-49BE1619BB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2479" y="1845612"/>
              <a:ext cx="705859" cy="1757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6066A861-9FD9-B037-942C-F4128A1BF48C}"/>
                </a:ext>
              </a:extLst>
            </p:cNvPr>
            <p:cNvSpPr/>
            <p:nvPr/>
          </p:nvSpPr>
          <p:spPr>
            <a:xfrm>
              <a:off x="6985074" y="1364688"/>
              <a:ext cx="3421359" cy="9144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accent1"/>
                  </a:solidFill>
                </a:rPr>
                <a:t>Retrieving and Augmenting</a:t>
              </a:r>
              <a:endParaRPr lang="ko-KR" altLang="en-US" b="1" dirty="0">
                <a:solidFill>
                  <a:schemeClr val="accent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20464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53" name="Straight Connector 1046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054" name="Rectangle 104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5A130D6-7539-2C10-158D-918E9ECD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434438"/>
            <a:ext cx="2983229" cy="261297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3000" dirty="0"/>
              <a:t>RAG </a:t>
            </a:r>
            <a:r>
              <a:rPr lang="ko-KR" altLang="en-US" sz="3000" dirty="0"/>
              <a:t>구성 요소별 툴 개념</a:t>
            </a:r>
          </a:p>
        </p:txBody>
      </p:sp>
      <p:cxnSp>
        <p:nvCxnSpPr>
          <p:cNvPr id="1055" name="Straight Connector 1050">
            <a:extLst>
              <a:ext uri="{FF2B5EF4-FFF2-40B4-BE49-F238E27FC236}">
                <a16:creationId xmlns:a16="http://schemas.microsoft.com/office/drawing/2014/main" id="{426B4E86-32C4-273A-1ADF-6B4424354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9435BC-D9A3-D564-E73F-EEC625F9E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Aft>
                <a:spcPts val="600"/>
              </a:spcAft>
            </a:pPr>
            <a:fld id="{70C12960-6E85-460F-B6E3-5B82CB31AF3D}" type="slidenum">
              <a:rPr lang="en-US" b="1" spc="300" smtClean="0"/>
              <a:pPr latinLnBrk="0">
                <a:spcAft>
                  <a:spcPts val="600"/>
                </a:spcAft>
              </a:pPr>
              <a:t>5</a:t>
            </a:fld>
            <a:endParaRPr lang="en-US" b="1" spc="300"/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23C15874-0183-6DD7-4DFA-107FB6EE23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052862"/>
              </p:ext>
            </p:extLst>
          </p:nvPr>
        </p:nvGraphicFramePr>
        <p:xfrm>
          <a:off x="3677478" y="1434438"/>
          <a:ext cx="8011237" cy="3743849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98625">
                  <a:extLst>
                    <a:ext uri="{9D8B030D-6E8A-4147-A177-3AD203B41FA5}">
                      <a16:colId xmlns:a16="http://schemas.microsoft.com/office/drawing/2014/main" val="2480120208"/>
                    </a:ext>
                  </a:extLst>
                </a:gridCol>
                <a:gridCol w="1133132">
                  <a:extLst>
                    <a:ext uri="{9D8B030D-6E8A-4147-A177-3AD203B41FA5}">
                      <a16:colId xmlns:a16="http://schemas.microsoft.com/office/drawing/2014/main" val="4014123429"/>
                    </a:ext>
                  </a:extLst>
                </a:gridCol>
                <a:gridCol w="1076903">
                  <a:extLst>
                    <a:ext uri="{9D8B030D-6E8A-4147-A177-3AD203B41FA5}">
                      <a16:colId xmlns:a16="http://schemas.microsoft.com/office/drawing/2014/main" val="2414855992"/>
                    </a:ext>
                  </a:extLst>
                </a:gridCol>
                <a:gridCol w="2791903">
                  <a:extLst>
                    <a:ext uri="{9D8B030D-6E8A-4147-A177-3AD203B41FA5}">
                      <a16:colId xmlns:a16="http://schemas.microsoft.com/office/drawing/2014/main" val="1991519692"/>
                    </a:ext>
                  </a:extLst>
                </a:gridCol>
                <a:gridCol w="1510674">
                  <a:extLst>
                    <a:ext uri="{9D8B030D-6E8A-4147-A177-3AD203B41FA5}">
                      <a16:colId xmlns:a16="http://schemas.microsoft.com/office/drawing/2014/main" val="2233076884"/>
                    </a:ext>
                  </a:extLst>
                </a:gridCol>
              </a:tblGrid>
              <a:tr h="500605"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4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도구</a:t>
                      </a:r>
                    </a:p>
                  </a:txBody>
                  <a:tcPr marL="140357" marR="4849" marT="70179" marB="701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4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분류</a:t>
                      </a:r>
                    </a:p>
                  </a:txBody>
                  <a:tcPr marL="140357" marR="4849" marT="70179" marB="701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4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 역할</a:t>
                      </a:r>
                    </a:p>
                  </a:txBody>
                  <a:tcPr marL="140357" marR="4849" marT="70179" marB="701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4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설명</a:t>
                      </a:r>
                    </a:p>
                  </a:txBody>
                  <a:tcPr marL="140357" marR="4849" marT="70179" marB="701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ko-KR" altLang="en-US" sz="1400" b="1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 예</a:t>
                      </a:r>
                    </a:p>
                  </a:txBody>
                  <a:tcPr marL="140357" marR="4849" marT="70179" marB="70179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2301756"/>
                  </a:ext>
                </a:extLst>
              </a:tr>
              <a:tr h="75601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Milvus</a:t>
                      </a:r>
                    </a:p>
                  </a:txBody>
                  <a:tcPr marL="140357" marR="4849" marT="70179" marB="70179" anchor="b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벡터 </a:t>
                      </a:r>
                      <a:r>
                        <a:rPr lang="en-US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</a:t>
                      </a:r>
                    </a:p>
                  </a:txBody>
                  <a:tcPr marL="140357" marR="4849" marT="70179" marB="70179" anchor="b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벡터 검색</a:t>
                      </a:r>
                    </a:p>
                  </a:txBody>
                  <a:tcPr marL="140357" marR="4849" marT="70179" marB="70179" anchor="b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벡터 인덱싱</a:t>
                      </a:r>
                      <a:r>
                        <a:rPr lang="en-US" altLang="ko-KR" sz="11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특화 </a:t>
                      </a:r>
                      <a:r>
                        <a:rPr lang="en-US" altLang="ko-KR" sz="11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DB. </a:t>
                      </a:r>
                      <a:r>
                        <a:rPr lang="ko-KR" altLang="en-US" sz="11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빠른 최근접 이웃 검색 지원</a:t>
                      </a:r>
                      <a:r>
                        <a:rPr lang="en-US" altLang="ko-KR" sz="11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140357" marR="4849" marT="70179" marB="70179" anchor="b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유사 문서 검색 후 </a:t>
                      </a:r>
                      <a:r>
                        <a:rPr lang="en-US" altLang="ko-KR" sz="11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LLM</a:t>
                      </a:r>
                      <a:r>
                        <a:rPr lang="ko-KR" altLang="en-US" sz="11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전달</a:t>
                      </a:r>
                    </a:p>
                  </a:txBody>
                  <a:tcPr marL="140357" marR="4849" marT="70179" marB="70179" anchor="b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8936818"/>
                  </a:ext>
                </a:extLst>
              </a:tr>
              <a:tr h="101142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OpenAI ChatGPT (API)</a:t>
                      </a:r>
                    </a:p>
                  </a:txBody>
                  <a:tcPr marL="140357" marR="4849" marT="70179" marB="70179" anchor="b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LLM </a:t>
                      </a:r>
                      <a:r>
                        <a:rPr lang="ko-KR" altLang="en-US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서빙</a:t>
                      </a:r>
                    </a:p>
                  </a:txBody>
                  <a:tcPr marL="140357" marR="4849" marT="70179" marB="70179" anchor="b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자연어 생성</a:t>
                      </a:r>
                    </a:p>
                  </a:txBody>
                  <a:tcPr marL="140357" marR="4849" marT="70179" marB="70179" anchor="b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LLM</a:t>
                      </a:r>
                      <a:r>
                        <a:rPr lang="ko-KR" altLang="en-US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이 </a:t>
                      </a:r>
                      <a:r>
                        <a:rPr lang="en-US" altLang="ko-KR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API </a:t>
                      </a:r>
                      <a:r>
                        <a:rPr lang="ko-KR" altLang="en-US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형태로 </a:t>
                      </a:r>
                      <a:r>
                        <a:rPr lang="ko-KR" altLang="en-US" sz="1100" b="0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서빙된</a:t>
                      </a:r>
                      <a:r>
                        <a:rPr lang="ko-KR" altLang="en-US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것</a:t>
                      </a:r>
                      <a:r>
                        <a:rPr lang="en-US" altLang="ko-KR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직접 학습 없이 사용</a:t>
                      </a:r>
                      <a:r>
                        <a:rPr lang="en-US" altLang="ko-KR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  <a:p>
                      <a:pPr algn="l" fontAlgn="b"/>
                      <a:endParaRPr lang="en-US" altLang="ko-KR" sz="11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1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추후 </a:t>
                      </a:r>
                      <a:r>
                        <a:rPr lang="en-US" altLang="ko-KR" sz="1100" b="0" i="1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LLAMA </a:t>
                      </a:r>
                      <a:r>
                        <a:rPr lang="ko-KR" altLang="en-US" sz="1100" b="0" i="1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 </a:t>
                      </a:r>
                      <a:r>
                        <a:rPr lang="en-US" altLang="ko-KR" sz="1100" b="0" i="1" u="none" strike="noStrike" dirty="0" err="1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OpenLLM</a:t>
                      </a:r>
                      <a:r>
                        <a:rPr lang="ko-KR" altLang="en-US" sz="1100" b="0" i="1" u="none" strike="noStrike" dirty="0">
                          <a:solidFill>
                            <a:srgbClr val="FF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으로 대체 가능</a:t>
                      </a:r>
                    </a:p>
                  </a:txBody>
                  <a:tcPr marL="140357" marR="4849" marT="70179" marB="70179" anchor="b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 결과 기반으로 답변 생성</a:t>
                      </a:r>
                      <a:endParaRPr lang="en-US" altLang="ko-KR" sz="1100" b="0" i="0" u="none" strike="noStrik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40357" marR="4849" marT="70179" marB="70179" anchor="b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932820"/>
                  </a:ext>
                </a:extLst>
              </a:tr>
              <a:tr h="75601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LangChain</a:t>
                      </a:r>
                    </a:p>
                  </a:txBody>
                  <a:tcPr marL="140357" marR="4849" marT="70179" marB="70179" anchor="b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LLM </a:t>
                      </a:r>
                      <a:r>
                        <a:rPr lang="ko-KR" altLang="en-US" sz="11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프레임워크</a:t>
                      </a:r>
                    </a:p>
                  </a:txBody>
                  <a:tcPr marL="140357" marR="4849" marT="70179" marB="70179" anchor="b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파이프라인 구성</a:t>
                      </a:r>
                    </a:p>
                  </a:txBody>
                  <a:tcPr marL="140357" marR="4849" marT="70179" marB="70179" anchor="b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문서 로딩</a:t>
                      </a:r>
                      <a:r>
                        <a:rPr lang="en-US" altLang="ko-KR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벡터화</a:t>
                      </a:r>
                      <a:r>
                        <a:rPr lang="en-US" altLang="ko-KR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검색</a:t>
                      </a:r>
                      <a:r>
                        <a:rPr lang="en-US" altLang="ko-KR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프롬프트 구성 및 호출 연결</a:t>
                      </a:r>
                      <a:r>
                        <a:rPr lang="en-US" altLang="ko-KR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140357" marR="4849" marT="70179" marB="70179" anchor="b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전체 </a:t>
                      </a:r>
                      <a:r>
                        <a:rPr lang="en-US" altLang="ko-KR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RAG </a:t>
                      </a:r>
                      <a:r>
                        <a:rPr lang="ko-KR" altLang="en-US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체인 구성</a:t>
                      </a:r>
                    </a:p>
                  </a:txBody>
                  <a:tcPr marL="140357" marR="4849" marT="70179" marB="70179" anchor="b">
                    <a:lnL w="9525" cap="flat" cmpd="sng" algn="ctr">
                      <a:solidFill>
                        <a:srgbClr val="D8DCDC"/>
                      </a:solidFill>
                      <a:prstDash val="solid"/>
                    </a:lnL>
                    <a:lnR w="9525" cap="flat" cmpd="sng" algn="ctr">
                      <a:solidFill>
                        <a:srgbClr val="D8DC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solidFill>
                      <a:srgbClr val="D8DEDC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0121083"/>
                  </a:ext>
                </a:extLst>
              </a:tr>
              <a:tr h="719783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Transformers</a:t>
                      </a:r>
                    </a:p>
                  </a:txBody>
                  <a:tcPr marL="140357" marR="4849" marT="70179" marB="70179" anchor="b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LLM </a:t>
                      </a:r>
                      <a:r>
                        <a:rPr lang="ko-KR" altLang="en-US" sz="11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라이브러리</a:t>
                      </a:r>
                    </a:p>
                  </a:txBody>
                  <a:tcPr marL="140357" marR="4849" marT="70179" marB="70179" anchor="b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 로딩</a:t>
                      </a:r>
                      <a:r>
                        <a:rPr lang="en-US" altLang="ko-KR" sz="11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활용</a:t>
                      </a:r>
                    </a:p>
                  </a:txBody>
                  <a:tcPr marL="140357" marR="4849" marT="70179" marB="70179" anchor="b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로컬에서 다양한 </a:t>
                      </a:r>
                      <a:r>
                        <a:rPr lang="en-US" altLang="ko-KR" sz="11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LLM </a:t>
                      </a:r>
                      <a:r>
                        <a:rPr lang="ko-KR" altLang="en-US" sz="11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실행 및 추론 가능</a:t>
                      </a:r>
                      <a:r>
                        <a:rPr lang="en-US" altLang="ko-KR" sz="1100" b="0" i="0" u="none" strike="noStrike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</a:p>
                  </a:txBody>
                  <a:tcPr marL="140357" marR="4849" marT="70179" marB="70179" anchor="b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로컬 </a:t>
                      </a:r>
                      <a:r>
                        <a:rPr lang="en-US" altLang="ko-KR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LLM </a:t>
                      </a:r>
                      <a:r>
                        <a:rPr lang="ko-KR" altLang="en-US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추론</a:t>
                      </a:r>
                      <a:r>
                        <a:rPr lang="en-US" altLang="ko-KR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0" i="0" u="none" strike="noStrik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임베딩</a:t>
                      </a:r>
                      <a:r>
                        <a:rPr lang="ko-KR" altLang="en-US" sz="1100" b="0" i="0" u="none" strike="noStrik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생성</a:t>
                      </a:r>
                    </a:p>
                  </a:txBody>
                  <a:tcPr marL="140357" marR="4849" marT="70179" marB="70179" anchor="b">
                    <a:lnL w="9525" cap="flat" cmpd="sng" algn="ctr">
                      <a:solidFill>
                        <a:srgbClr val="D8DEDC"/>
                      </a:solidFill>
                      <a:prstDash val="solid"/>
                    </a:lnL>
                    <a:lnR w="9525" cap="flat" cmpd="sng" algn="ctr">
                      <a:solidFill>
                        <a:srgbClr val="D8DEDC"/>
                      </a:solidFill>
                      <a:prstDash val="solid"/>
                    </a:lnR>
                    <a:lnT w="9525" cap="flat" cmpd="sng" algn="ctr">
                      <a:solidFill>
                        <a:srgbClr val="D8DCDC"/>
                      </a:solidFill>
                      <a:prstDash val="solid"/>
                    </a:lnT>
                    <a:lnB w="9525" cap="flat" cmpd="sng" algn="ctr">
                      <a:solidFill>
                        <a:srgbClr val="D8DCDC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5931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7697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C1CC07-8E06-A742-D848-7B9C2DAAD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717E9E5-F4AB-13B0-FB9B-3A48FBBA8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0"/>
            <a:ext cx="5752093" cy="109728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ko-KR"/>
              <a:t>RAG </a:t>
            </a:r>
            <a:r>
              <a:rPr lang="ko-KR" altLang="en-US"/>
              <a:t>구성 요소별 툴 개념</a:t>
            </a:r>
          </a:p>
        </p:txBody>
      </p:sp>
      <p:cxnSp>
        <p:nvCxnSpPr>
          <p:cNvPr id="2059" name="Straight Connector 2058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FC8D15-7F12-50D9-29F4-B89A3A7778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6205"/>
            <a:ext cx="5752095" cy="3661713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ko-KR" sz="1100"/>
              <a:t>Milvus DB</a:t>
            </a:r>
            <a:r>
              <a:rPr lang="ko-KR" altLang="en-US" sz="1100"/>
              <a:t> 특성</a:t>
            </a:r>
            <a:endParaRPr lang="en-US" altLang="ko-KR" sz="1100"/>
          </a:p>
          <a:p>
            <a:pPr>
              <a:lnSpc>
                <a:spcPct val="110000"/>
              </a:lnSpc>
            </a:pPr>
            <a:r>
              <a:rPr lang="ko-KR" altLang="en-US" sz="1100"/>
              <a:t>고속 벡터 검색</a:t>
            </a:r>
            <a:r>
              <a:rPr lang="en-US" altLang="ko-KR" sz="1100"/>
              <a:t>: ANN </a:t>
            </a:r>
            <a:r>
              <a:rPr lang="ko-KR" altLang="en-US" sz="1100"/>
              <a:t>기반 빠른 유사도 검색</a:t>
            </a:r>
            <a:endParaRPr lang="en-US" altLang="ko-KR" sz="1100"/>
          </a:p>
          <a:p>
            <a:pPr>
              <a:lnSpc>
                <a:spcPct val="110000"/>
              </a:lnSpc>
            </a:pPr>
            <a:r>
              <a:rPr lang="ko-KR" altLang="en-US" sz="1100"/>
              <a:t>스케일 확장성</a:t>
            </a:r>
            <a:r>
              <a:rPr lang="en-US" altLang="ko-KR" sz="1100"/>
              <a:t>: </a:t>
            </a:r>
            <a:r>
              <a:rPr lang="ko-KR" altLang="en-US" sz="1100"/>
              <a:t>벡터 데이터 개수</a:t>
            </a:r>
            <a:r>
              <a:rPr lang="en-US" altLang="ko-KR" sz="1100"/>
              <a:t>, </a:t>
            </a:r>
            <a:r>
              <a:rPr lang="ko-KR" altLang="en-US" sz="1100"/>
              <a:t>차원 수가 늘어나도 안정적</a:t>
            </a:r>
            <a:endParaRPr lang="en-US" altLang="ko-KR" sz="1100"/>
          </a:p>
          <a:p>
            <a:pPr>
              <a:lnSpc>
                <a:spcPct val="110000"/>
              </a:lnSpc>
            </a:pPr>
            <a:r>
              <a:rPr lang="en-US" altLang="ko-KR" sz="1100"/>
              <a:t>GPU</a:t>
            </a:r>
            <a:r>
              <a:rPr lang="ko-KR" altLang="en-US" sz="1100"/>
              <a:t> 가속</a:t>
            </a:r>
            <a:r>
              <a:rPr lang="en-US" altLang="ko-KR" sz="1100"/>
              <a:t>: </a:t>
            </a:r>
            <a:r>
              <a:rPr lang="ko-KR" altLang="en-US" sz="1100"/>
              <a:t>대규모 검색에 </a:t>
            </a:r>
            <a:r>
              <a:rPr lang="en-US" altLang="ko-KR" sz="1100"/>
              <a:t>GPU </a:t>
            </a:r>
            <a:r>
              <a:rPr lang="ko-KR" altLang="en-US" sz="1100"/>
              <a:t>사용 가능 </a:t>
            </a:r>
            <a:r>
              <a:rPr lang="en-US" altLang="ko-KR" sz="1100"/>
              <a:t>(</a:t>
            </a:r>
            <a:r>
              <a:rPr lang="ko-KR" altLang="en-US" sz="1100"/>
              <a:t>옵션</a:t>
            </a:r>
            <a:r>
              <a:rPr lang="en-US" altLang="ko-KR" sz="1100"/>
              <a:t>)</a:t>
            </a:r>
          </a:p>
          <a:p>
            <a:pPr>
              <a:lnSpc>
                <a:spcPct val="110000"/>
              </a:lnSpc>
            </a:pPr>
            <a:r>
              <a:rPr lang="ko-KR" altLang="en-US" sz="1100"/>
              <a:t>벡터 </a:t>
            </a:r>
            <a:r>
              <a:rPr lang="en-US" altLang="ko-KR" sz="1100"/>
              <a:t>+ </a:t>
            </a:r>
            <a:r>
              <a:rPr lang="ko-KR" altLang="en-US" sz="1100"/>
              <a:t>메타 데이터 동시 관리</a:t>
            </a:r>
            <a:r>
              <a:rPr lang="en-US" altLang="ko-KR" sz="1100"/>
              <a:t>: </a:t>
            </a:r>
            <a:r>
              <a:rPr lang="ko-KR" altLang="en-US" sz="1100"/>
              <a:t>문서 </a:t>
            </a:r>
            <a:r>
              <a:rPr lang="en-US" altLang="ko-KR" sz="1100"/>
              <a:t>ID, </a:t>
            </a:r>
            <a:r>
              <a:rPr lang="ko-KR" altLang="en-US" sz="1100"/>
              <a:t>제목 등 벡터와 함께 저장 가능</a:t>
            </a:r>
            <a:endParaRPr lang="en-US" altLang="ko-KR" sz="1100"/>
          </a:p>
          <a:p>
            <a:pPr marL="0" indent="0">
              <a:lnSpc>
                <a:spcPct val="110000"/>
              </a:lnSpc>
              <a:buNone/>
            </a:pPr>
            <a:r>
              <a:rPr lang="en-US" altLang="ko-KR" sz="1100" err="1"/>
              <a:t>Langchain</a:t>
            </a:r>
            <a:r>
              <a:rPr lang="en-US" altLang="ko-KR" sz="1100"/>
              <a:t> </a:t>
            </a:r>
            <a:r>
              <a:rPr lang="ko-KR" altLang="en-US" sz="1100"/>
              <a:t>프레임워크 특성</a:t>
            </a:r>
            <a:endParaRPr lang="en-US" altLang="ko-KR" sz="1100"/>
          </a:p>
          <a:p>
            <a:pPr>
              <a:lnSpc>
                <a:spcPct val="110000"/>
              </a:lnSpc>
            </a:pPr>
            <a:r>
              <a:rPr lang="ko-KR" altLang="en-US" sz="1100" err="1"/>
              <a:t>모듈화된</a:t>
            </a:r>
            <a:r>
              <a:rPr lang="ko-KR" altLang="en-US" sz="1100"/>
              <a:t> 체인 구성</a:t>
            </a:r>
            <a:r>
              <a:rPr lang="en-US" altLang="ko-KR" sz="1100"/>
              <a:t>: </a:t>
            </a:r>
            <a:r>
              <a:rPr lang="ko-KR" altLang="en-US" sz="1100"/>
              <a:t>문서 불러오기</a:t>
            </a:r>
            <a:r>
              <a:rPr lang="en-US" altLang="ko-KR" sz="1100"/>
              <a:t>, </a:t>
            </a:r>
            <a:r>
              <a:rPr lang="ko-KR" altLang="en-US" sz="1100"/>
              <a:t>벡터화</a:t>
            </a:r>
            <a:r>
              <a:rPr lang="en-US" altLang="ko-KR" sz="1100"/>
              <a:t>, </a:t>
            </a:r>
            <a:r>
              <a:rPr lang="ko-KR" altLang="en-US" sz="1100"/>
              <a:t>검색 등 다양한 함수 모듈화</a:t>
            </a:r>
            <a:endParaRPr lang="en-US" altLang="ko-KR" sz="1100"/>
          </a:p>
          <a:p>
            <a:pPr>
              <a:lnSpc>
                <a:spcPct val="110000"/>
              </a:lnSpc>
            </a:pPr>
            <a:r>
              <a:rPr lang="ko-KR" altLang="en-US" sz="1100"/>
              <a:t>범용성 및 확장성</a:t>
            </a:r>
            <a:r>
              <a:rPr lang="en-US" altLang="ko-KR" sz="1100"/>
              <a:t>: OpenAI, Cohere, </a:t>
            </a:r>
            <a:r>
              <a:rPr lang="en-US" altLang="ko-KR" sz="1100" err="1"/>
              <a:t>Huggingface</a:t>
            </a:r>
            <a:r>
              <a:rPr lang="en-US" altLang="ko-KR" sz="1100"/>
              <a:t>, Milvus </a:t>
            </a:r>
            <a:r>
              <a:rPr lang="ko-KR" altLang="en-US" sz="1100"/>
              <a:t>등 다양한 툴들과 연동 가능</a:t>
            </a:r>
            <a:endParaRPr lang="en-US" altLang="ko-KR" sz="1100"/>
          </a:p>
          <a:p>
            <a:pPr>
              <a:lnSpc>
                <a:spcPct val="110000"/>
              </a:lnSpc>
            </a:pPr>
            <a:r>
              <a:rPr lang="en-US" altLang="ko-KR" sz="1100"/>
              <a:t>RAG </a:t>
            </a:r>
            <a:r>
              <a:rPr lang="ko-KR" altLang="en-US" sz="1100"/>
              <a:t>특화 체인 제공</a:t>
            </a:r>
            <a:r>
              <a:rPr lang="en-US" altLang="ko-KR" sz="1100"/>
              <a:t>: </a:t>
            </a:r>
            <a:r>
              <a:rPr lang="ko-KR" altLang="en-US" sz="1100"/>
              <a:t>검색된 </a:t>
            </a:r>
            <a:r>
              <a:rPr lang="en-US" altLang="ko-KR" sz="1100"/>
              <a:t>Docs</a:t>
            </a:r>
            <a:r>
              <a:rPr lang="ko-KR" altLang="en-US" sz="1100"/>
              <a:t>를 템플릿에 넣어 </a:t>
            </a:r>
            <a:r>
              <a:rPr lang="en-US" altLang="ko-KR" sz="1100"/>
              <a:t>LLM </a:t>
            </a:r>
            <a:r>
              <a:rPr lang="ko-KR" altLang="en-US" sz="1100"/>
              <a:t>전달 가능</a:t>
            </a:r>
            <a:endParaRPr lang="en-US" altLang="ko-KR" sz="1100"/>
          </a:p>
          <a:p>
            <a:pPr>
              <a:lnSpc>
                <a:spcPct val="110000"/>
              </a:lnSpc>
            </a:pPr>
            <a:r>
              <a:rPr lang="ko-KR" altLang="en-US" sz="1100"/>
              <a:t>대화형 </a:t>
            </a:r>
            <a:r>
              <a:rPr lang="en-US" altLang="ko-KR" sz="1100"/>
              <a:t>QA </a:t>
            </a:r>
            <a:r>
              <a:rPr lang="ko-KR" altLang="en-US" sz="1100"/>
              <a:t>지원</a:t>
            </a:r>
            <a:r>
              <a:rPr lang="en-US" altLang="ko-KR" sz="1100"/>
              <a:t>: </a:t>
            </a:r>
            <a:r>
              <a:rPr lang="ko-KR" altLang="en-US" sz="1100"/>
              <a:t>검색</a:t>
            </a:r>
            <a:r>
              <a:rPr lang="en-US" altLang="ko-KR" sz="1100"/>
              <a:t> + </a:t>
            </a:r>
            <a:r>
              <a:rPr lang="ko-KR" altLang="en-US" sz="1100" err="1"/>
              <a:t>멀티턴</a:t>
            </a:r>
            <a:r>
              <a:rPr lang="ko-KR" altLang="en-US" sz="1100"/>
              <a:t> 대화형 </a:t>
            </a:r>
            <a:r>
              <a:rPr lang="en-US" altLang="ko-KR" sz="1100"/>
              <a:t>RAG </a:t>
            </a:r>
            <a:r>
              <a:rPr lang="ko-KR" altLang="en-US" sz="1100" err="1"/>
              <a:t>챗봇</a:t>
            </a:r>
            <a:r>
              <a:rPr lang="ko-KR" altLang="en-US" sz="1100"/>
              <a:t> 구현</a:t>
            </a:r>
            <a:endParaRPr lang="en-US" altLang="ko-KR" sz="1100"/>
          </a:p>
        </p:txBody>
      </p:sp>
      <p:pic>
        <p:nvPicPr>
          <p:cNvPr id="2052" name="Picture 4" descr="LangChain (1) 설치, 간단한 챗봇 만들기 (Chain, Agent)">
            <a:extLst>
              <a:ext uri="{FF2B5EF4-FFF2-40B4-BE49-F238E27FC236}">
                <a16:creationId xmlns:a16="http://schemas.microsoft.com/office/drawing/2014/main" id="{684EDFA3-A997-6060-121D-C7D41E30F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97946" y="1059479"/>
            <a:ext cx="4250585" cy="2221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Milvus 벡터 데이터베이스를 통한 확장 가능하고 빠른 유사도 검색 - Milvus Blog">
            <a:extLst>
              <a:ext uri="{FF2B5EF4-FFF2-40B4-BE49-F238E27FC236}">
                <a16:creationId xmlns:a16="http://schemas.microsoft.com/office/drawing/2014/main" id="{080440D2-FB03-6CAC-33ED-B91DA735D6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97946" y="3607283"/>
            <a:ext cx="4250585" cy="2433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64C3AB-91C9-6F38-44C1-9A5F1017A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>
              <a:spcAft>
                <a:spcPts val="600"/>
              </a:spcAft>
            </a:pPr>
            <a:fld id="{70C12960-6E85-460F-B6E3-5B82CB31AF3D}" type="slidenum">
              <a:rPr lang="en-US" b="1" spc="300" smtClean="0"/>
              <a:pPr latinLnBrk="0">
                <a:spcAft>
                  <a:spcPts val="600"/>
                </a:spcAft>
              </a:pPr>
              <a:t>6</a:t>
            </a:fld>
            <a:endParaRPr lang="en-US" b="1" spc="300"/>
          </a:p>
        </p:txBody>
      </p:sp>
    </p:spTree>
    <p:extLst>
      <p:ext uri="{BB962C8B-B14F-4D97-AF65-F5344CB8AC3E}">
        <p14:creationId xmlns:p14="http://schemas.microsoft.com/office/powerpoint/2010/main" val="19057335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9806B-8101-DD11-5F70-65AB37C36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E2CE30-9F3E-9AC8-0C41-E60C9BCCD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RAG </a:t>
            </a:r>
            <a:r>
              <a:rPr lang="ko-KR" altLang="en-US" dirty="0"/>
              <a:t>시스템 구축 </a:t>
            </a:r>
            <a:r>
              <a:rPr lang="en-US" altLang="ko-KR" dirty="0"/>
              <a:t>| Vector DB </a:t>
            </a:r>
            <a:r>
              <a:rPr lang="ko-KR" altLang="en-US" dirty="0"/>
              <a:t>구축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72B489-19D4-96DC-730F-FE65126ED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3472"/>
            <a:ext cx="10890929" cy="3666744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Vector DB </a:t>
            </a:r>
            <a:r>
              <a:rPr lang="ko-KR" altLang="en-US" dirty="0"/>
              <a:t>구축 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Document</a:t>
            </a:r>
            <a:r>
              <a:rPr lang="ko-KR" altLang="en-US" dirty="0"/>
              <a:t> </a:t>
            </a:r>
            <a:r>
              <a:rPr lang="en-US" altLang="ko-KR" dirty="0"/>
              <a:t>searching </a:t>
            </a:r>
            <a:r>
              <a:rPr lang="ko-KR" altLang="en-US" dirty="0"/>
              <a:t>기능 구현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LLM Prompt</a:t>
            </a:r>
            <a:r>
              <a:rPr lang="ko-KR" altLang="en-US" dirty="0"/>
              <a:t> 및 </a:t>
            </a:r>
            <a:r>
              <a:rPr lang="en-US" altLang="ko-KR" dirty="0"/>
              <a:t>LLM </a:t>
            </a:r>
            <a:r>
              <a:rPr lang="ko-KR" altLang="en-US" dirty="0"/>
              <a:t>추론 최적화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운영</a:t>
            </a:r>
            <a:r>
              <a:rPr lang="en-US" altLang="ko-KR" dirty="0"/>
              <a:t>/</a:t>
            </a:r>
            <a:r>
              <a:rPr lang="ko-KR" altLang="en-US" dirty="0"/>
              <a:t>관리  정책 설정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RAG </a:t>
            </a:r>
            <a:r>
              <a:rPr lang="ko-KR" altLang="en-US" dirty="0"/>
              <a:t>테스트 및 고도화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C9F227-0632-5E46-4A56-4674C8193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697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6D67B2-6C83-5F01-14AC-F7F400461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0AEFB18-3589-FA73-1BE3-361827EA9B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RAG </a:t>
            </a:r>
            <a:r>
              <a:rPr lang="ko-KR" altLang="en-US" dirty="0"/>
              <a:t>시스템 구축 </a:t>
            </a:r>
            <a:r>
              <a:rPr lang="en-US" altLang="ko-KR" dirty="0"/>
              <a:t>| Vector DB </a:t>
            </a:r>
            <a:r>
              <a:rPr lang="ko-KR" altLang="en-US" dirty="0"/>
              <a:t>구축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B1E2835-13A9-CE41-5BA6-8BF45C9EE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5660CE-644B-CD69-BAE1-74768DD42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3472"/>
            <a:ext cx="10890929" cy="3666744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Vector DB </a:t>
            </a:r>
            <a:r>
              <a:rPr lang="ko-KR" altLang="en-US" dirty="0"/>
              <a:t>구축 </a:t>
            </a:r>
            <a:r>
              <a:rPr lang="en-US" altLang="ko-KR" dirty="0"/>
              <a:t>(Milvus)</a:t>
            </a:r>
          </a:p>
          <a:p>
            <a:pPr lvl="1"/>
            <a:r>
              <a:rPr lang="en-US" altLang="ko-KR" dirty="0"/>
              <a:t>Vector DB table </a:t>
            </a:r>
            <a:r>
              <a:rPr lang="ko-KR" altLang="en-US" dirty="0"/>
              <a:t>설계</a:t>
            </a:r>
            <a:r>
              <a:rPr lang="en-US" altLang="ko-KR" dirty="0"/>
              <a:t>: </a:t>
            </a:r>
            <a:r>
              <a:rPr lang="ko-KR" altLang="en-US" dirty="0"/>
              <a:t>저장할 메타 데이터 </a:t>
            </a:r>
            <a:r>
              <a:rPr lang="en-US" altLang="ko-KR" dirty="0"/>
              <a:t>+ </a:t>
            </a:r>
            <a:r>
              <a:rPr lang="ko-KR" altLang="en-US" dirty="0"/>
              <a:t>벡터 데이터 선정 필요</a:t>
            </a:r>
            <a:endParaRPr lang="en-US" altLang="ko-KR" dirty="0"/>
          </a:p>
          <a:p>
            <a:pPr lvl="1"/>
            <a:r>
              <a:rPr lang="en-US" altLang="ko-KR" dirty="0"/>
              <a:t>Vector DB </a:t>
            </a:r>
            <a:r>
              <a:rPr lang="ko-KR" altLang="en-US" dirty="0"/>
              <a:t>저장 </a:t>
            </a:r>
            <a:endParaRPr lang="en-US" altLang="ko-KR" dirty="0"/>
          </a:p>
          <a:p>
            <a:pPr lvl="1"/>
            <a:r>
              <a:rPr lang="ko-KR" altLang="en-US" dirty="0"/>
              <a:t>문서 </a:t>
            </a:r>
            <a:r>
              <a:rPr lang="ko-KR" altLang="en-US" dirty="0" err="1"/>
              <a:t>전처리</a:t>
            </a:r>
            <a:r>
              <a:rPr lang="en-US" altLang="ko-KR" dirty="0"/>
              <a:t>: </a:t>
            </a:r>
            <a:r>
              <a:rPr lang="ko-KR" altLang="en-US" dirty="0" err="1"/>
              <a:t>불용어</a:t>
            </a:r>
            <a:r>
              <a:rPr lang="ko-KR" altLang="en-US" dirty="0"/>
              <a:t> 및 </a:t>
            </a:r>
            <a:r>
              <a:rPr lang="ko-KR" altLang="en-US" dirty="0" err="1"/>
              <a:t>필요없는</a:t>
            </a:r>
            <a:r>
              <a:rPr lang="ko-KR" altLang="en-US" dirty="0"/>
              <a:t> 데이터 제거</a:t>
            </a:r>
            <a:endParaRPr lang="en-US" altLang="ko-KR" dirty="0"/>
          </a:p>
          <a:p>
            <a:pPr lvl="1"/>
            <a:r>
              <a:rPr lang="ko-KR" altLang="en-US" dirty="0"/>
              <a:t>문서 분할 </a:t>
            </a:r>
            <a:r>
              <a:rPr lang="en-US" altLang="ko-KR" dirty="0"/>
              <a:t>(Chunking): </a:t>
            </a:r>
            <a:r>
              <a:rPr lang="ko-KR" altLang="en-US" dirty="0"/>
              <a:t>목적에 맞게 잡지 </a:t>
            </a:r>
            <a:r>
              <a:rPr lang="en-US" altLang="ko-KR" dirty="0"/>
              <a:t>text </a:t>
            </a:r>
            <a:r>
              <a:rPr lang="ko-KR" altLang="en-US" dirty="0"/>
              <a:t>데이터를 여러 개의 단어 뭉치로 분할</a:t>
            </a:r>
            <a:endParaRPr lang="en-US" altLang="ko-KR" dirty="0"/>
          </a:p>
          <a:p>
            <a:pPr lvl="1"/>
            <a:r>
              <a:rPr lang="ko-KR" altLang="en-US" dirty="0" err="1"/>
              <a:t>임베딩</a:t>
            </a:r>
            <a:r>
              <a:rPr lang="ko-KR" altLang="en-US" dirty="0"/>
              <a:t> 모델 선정 및 </a:t>
            </a:r>
            <a:r>
              <a:rPr lang="ko-KR" altLang="en-US" dirty="0" err="1"/>
              <a:t>임베딩</a:t>
            </a:r>
            <a:r>
              <a:rPr lang="ko-KR" altLang="en-US" dirty="0"/>
              <a:t> 벡터 적재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16736C-43B6-90CD-1099-A770B6F3F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8563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3D928-3DA3-4610-1544-871887015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ADE25A-7F06-7F3B-DB6F-5E2A2A135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 anchor="t">
            <a:normAutofit fontScale="90000"/>
          </a:bodyPr>
          <a:lstStyle/>
          <a:p>
            <a:r>
              <a:rPr lang="en-US" altLang="ko-KR" dirty="0"/>
              <a:t>RAG </a:t>
            </a:r>
            <a:r>
              <a:rPr lang="ko-KR" altLang="en-US" dirty="0"/>
              <a:t>시스템 구축 </a:t>
            </a:r>
            <a:r>
              <a:rPr lang="en-US" altLang="ko-KR" dirty="0"/>
              <a:t>| Document</a:t>
            </a:r>
            <a:r>
              <a:rPr lang="ko-KR" altLang="en-US" dirty="0"/>
              <a:t> </a:t>
            </a:r>
            <a:r>
              <a:rPr lang="en-US" altLang="ko-KR" dirty="0"/>
              <a:t>searching</a:t>
            </a:r>
            <a:r>
              <a:rPr lang="ko-KR" altLang="en-US" dirty="0"/>
              <a:t> 알고리즘 구현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D9D9F6-9E4E-8440-CABD-4A4DDFE01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3472"/>
            <a:ext cx="10890929" cy="3666744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Document</a:t>
            </a:r>
            <a:r>
              <a:rPr lang="ko-KR" altLang="en-US" dirty="0"/>
              <a:t> </a:t>
            </a:r>
            <a:r>
              <a:rPr lang="en-US" altLang="ko-KR" dirty="0"/>
              <a:t>searching </a:t>
            </a:r>
            <a:r>
              <a:rPr lang="ko-KR" altLang="en-US" dirty="0"/>
              <a:t>기능 구현 </a:t>
            </a:r>
            <a:r>
              <a:rPr lang="en-US" altLang="ko-KR" dirty="0"/>
              <a:t>(Milvus)</a:t>
            </a:r>
          </a:p>
          <a:p>
            <a:pPr lvl="1"/>
            <a:r>
              <a:rPr lang="ko-KR" altLang="en-US" dirty="0"/>
              <a:t>활용 </a:t>
            </a:r>
            <a:r>
              <a:rPr lang="en-US" altLang="ko-KR" dirty="0"/>
              <a:t>Metric </a:t>
            </a:r>
            <a:r>
              <a:rPr lang="ko-KR" altLang="en-US" dirty="0"/>
              <a:t>및 </a:t>
            </a:r>
            <a:r>
              <a:rPr lang="en-US" altLang="ko-KR" dirty="0"/>
              <a:t>Searching </a:t>
            </a:r>
            <a:r>
              <a:rPr lang="ko-KR" altLang="en-US" dirty="0"/>
              <a:t>쿼리 최적화</a:t>
            </a:r>
            <a:endParaRPr lang="en-US" altLang="ko-KR" dirty="0"/>
          </a:p>
          <a:p>
            <a:pPr lvl="1"/>
            <a:r>
              <a:rPr lang="ko-KR" altLang="en-US" dirty="0"/>
              <a:t>출력 결과물 데이터 조회 방식 선정 및 구현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BAB362-4B84-098F-8A1D-D5CD9D704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69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EA36D-0501-C59D-35EC-55FD1B5D2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5A5ACF-FDD3-7590-CBC9-890500DAC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 anchor="t">
            <a:normAutofit fontScale="90000"/>
          </a:bodyPr>
          <a:lstStyle/>
          <a:p>
            <a:r>
              <a:rPr lang="en-US" altLang="ko-KR" dirty="0"/>
              <a:t>RAG </a:t>
            </a:r>
            <a:r>
              <a:rPr lang="ko-KR" altLang="en-US" dirty="0"/>
              <a:t>시스템 구축 </a:t>
            </a:r>
            <a:r>
              <a:rPr lang="en-US" altLang="ko-KR" dirty="0"/>
              <a:t>| Prompt</a:t>
            </a:r>
            <a:r>
              <a:rPr lang="ko-KR" altLang="en-US" dirty="0"/>
              <a:t> 설계</a:t>
            </a:r>
            <a:r>
              <a:rPr lang="en-US" altLang="ko-KR" dirty="0"/>
              <a:t> </a:t>
            </a:r>
            <a:r>
              <a:rPr lang="ko-KR" altLang="en-US" dirty="0"/>
              <a:t>및 </a:t>
            </a:r>
            <a:r>
              <a:rPr lang="en-US" altLang="ko-KR" dirty="0"/>
              <a:t>LLM </a:t>
            </a:r>
            <a:r>
              <a:rPr lang="ko-KR" altLang="en-US" dirty="0"/>
              <a:t>추론 최적화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33AB4A-8B28-3CE0-488C-3DC9DA270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3472"/>
            <a:ext cx="10890929" cy="3666744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LLM Prompt</a:t>
            </a:r>
            <a:r>
              <a:rPr lang="ko-KR" altLang="en-US" dirty="0"/>
              <a:t> 설계 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GPU</a:t>
            </a:r>
            <a:r>
              <a:rPr lang="ko-KR" altLang="en-US" dirty="0"/>
              <a:t> 서버 구축 및 최적화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FC6E29-CDAF-43E2-9DF7-FDE4FF783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44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5DFE7-362C-2DC4-4AF7-7422F22C6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4E4AF6-3BFD-FE8C-F704-4EEA66964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RAG </a:t>
            </a:r>
            <a:r>
              <a:rPr lang="ko-KR" altLang="en-US" dirty="0"/>
              <a:t>시스템 구축 </a:t>
            </a:r>
            <a:r>
              <a:rPr lang="en-US" altLang="ko-KR"/>
              <a:t>|</a:t>
            </a:r>
            <a:r>
              <a:rPr lang="ko-KR" altLang="en-US"/>
              <a:t> 운영</a:t>
            </a:r>
            <a:r>
              <a:rPr lang="en-US" altLang="ko-KR"/>
              <a:t>/</a:t>
            </a:r>
            <a:r>
              <a:rPr lang="ko-KR" altLang="en-US"/>
              <a:t>관리 정책 설정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CC8F4D-AA64-25CC-4D95-93AE76680A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3472"/>
            <a:ext cx="10890929" cy="3666744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C62993-851D-4C46-6EF1-755303AF5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F23D8B62-EAEF-917C-2A39-D73418F5299D}"/>
              </a:ext>
            </a:extLst>
          </p:cNvPr>
          <p:cNvSpPr txBox="1">
            <a:spLocks/>
          </p:cNvSpPr>
          <p:nvPr/>
        </p:nvSpPr>
        <p:spPr>
          <a:xfrm>
            <a:off x="792479" y="2785872"/>
            <a:ext cx="10890929" cy="3666744"/>
          </a:xfrm>
          <a:prstGeom prst="rect">
            <a:avLst/>
          </a:prstGeom>
        </p:spPr>
        <p:txBody>
          <a:bodyPr lIns="109728" tIns="109728" rIns="109728" bIns="9144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altLang="ko-KR"/>
              <a:t>LLM Prompt</a:t>
            </a:r>
            <a:r>
              <a:rPr lang="ko-KR" altLang="en-US"/>
              <a:t> 설계 </a:t>
            </a:r>
            <a:endParaRPr lang="en-US" altLang="ko-KR"/>
          </a:p>
          <a:p>
            <a:pPr marL="342900" indent="-342900">
              <a:buFont typeface="+mj-lt"/>
              <a:buAutoNum type="arabicPeriod"/>
            </a:pPr>
            <a:r>
              <a:rPr lang="en-US" altLang="ko-KR"/>
              <a:t>GPU</a:t>
            </a:r>
            <a:r>
              <a:rPr lang="ko-KR" altLang="en-US"/>
              <a:t> 서버 구축 및 최적화</a:t>
            </a:r>
            <a:endParaRPr lang="en-US" altLang="ko-KR"/>
          </a:p>
          <a:p>
            <a:pPr marL="342900" indent="-342900">
              <a:buFont typeface="+mj-lt"/>
              <a:buAutoNum type="arabicPeriod"/>
            </a:pPr>
            <a:endParaRPr lang="en-US" altLang="ko-KR"/>
          </a:p>
          <a:p>
            <a:pPr marL="342900" indent="-342900">
              <a:buFont typeface="+mj-lt"/>
              <a:buAutoNum type="arabicPeriod"/>
            </a:pPr>
            <a:endParaRPr lang="en-US" altLang="ko-KR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10641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65AAA-2983-A615-BABE-DE5C40FD8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030F34-E7EF-0B1D-CA41-36AAB246A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RAG </a:t>
            </a:r>
            <a:r>
              <a:rPr lang="ko-KR" altLang="en-US" dirty="0"/>
              <a:t>시스템 구축 </a:t>
            </a:r>
            <a:r>
              <a:rPr lang="en-US" altLang="ko-KR" dirty="0"/>
              <a:t>|</a:t>
            </a:r>
            <a:r>
              <a:rPr lang="ko-KR" altLang="en-US" dirty="0"/>
              <a:t> 테스트 및 고도화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8F02AD-E7E8-406E-2874-121C0C71F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3472"/>
            <a:ext cx="10890929" cy="3666744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F5F9A8-7351-0EF2-CB8E-C94C4895F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C78D95ED-BF49-8943-25F9-94410F509B05}"/>
              </a:ext>
            </a:extLst>
          </p:cNvPr>
          <p:cNvSpPr txBox="1">
            <a:spLocks/>
          </p:cNvSpPr>
          <p:nvPr/>
        </p:nvSpPr>
        <p:spPr>
          <a:xfrm>
            <a:off x="792479" y="2785872"/>
            <a:ext cx="10890929" cy="3666744"/>
          </a:xfrm>
          <a:prstGeom prst="rect">
            <a:avLst/>
          </a:prstGeom>
        </p:spPr>
        <p:txBody>
          <a:bodyPr lIns="109728" tIns="109728" rIns="109728" bIns="9144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altLang="ko-KR" dirty="0"/>
              <a:t>RAG </a:t>
            </a:r>
            <a:r>
              <a:rPr lang="ko-KR" altLang="en-US" dirty="0"/>
              <a:t>고도화</a:t>
            </a:r>
            <a:endParaRPr lang="en-US" altLang="ko-KR" dirty="0"/>
          </a:p>
          <a:p>
            <a:pPr lvl="1"/>
            <a:r>
              <a:rPr lang="ko-KR" altLang="en-US" b="1" dirty="0">
                <a:solidFill>
                  <a:srgbClr val="FF0000"/>
                </a:solidFill>
              </a:rPr>
              <a:t>쿼리 개선</a:t>
            </a:r>
            <a:r>
              <a:rPr lang="en-US" altLang="ko-KR" b="1" dirty="0"/>
              <a:t>: </a:t>
            </a:r>
            <a:r>
              <a:rPr lang="ko-KR" altLang="en-US" dirty="0"/>
              <a:t>사용자 쿼리 의도를 더 잘 표현하거나 처리하기 위해 </a:t>
            </a:r>
            <a:r>
              <a:rPr lang="en-US" altLang="ko-KR" dirty="0"/>
              <a:t>RAG </a:t>
            </a:r>
            <a:r>
              <a:rPr lang="ko-KR" altLang="en-US" dirty="0"/>
              <a:t>입력의 쿼리 프로세스를 수정하거나 조작</a:t>
            </a:r>
            <a:endParaRPr lang="en-US" altLang="ko-KR" dirty="0"/>
          </a:p>
          <a:p>
            <a:pPr lvl="1"/>
            <a:r>
              <a:rPr lang="ko-KR" altLang="en-US" b="1" dirty="0">
                <a:solidFill>
                  <a:srgbClr val="FF0000"/>
                </a:solidFill>
              </a:rPr>
              <a:t>인덱싱 개선</a:t>
            </a:r>
            <a:r>
              <a:rPr lang="en-US" altLang="ko-KR" b="1" dirty="0"/>
              <a:t>: </a:t>
            </a:r>
            <a:r>
              <a:rPr lang="ko-KR" altLang="en-US" dirty="0"/>
              <a:t>데이터</a:t>
            </a:r>
            <a:r>
              <a:rPr lang="en-US" altLang="ko-KR" dirty="0"/>
              <a:t>(</a:t>
            </a:r>
            <a:r>
              <a:rPr lang="ko-KR" altLang="en-US" dirty="0"/>
              <a:t>문서</a:t>
            </a:r>
            <a:r>
              <a:rPr lang="en-US" altLang="ko-KR" dirty="0"/>
              <a:t>)</a:t>
            </a:r>
            <a:r>
              <a:rPr lang="ko-KR" altLang="en-US" dirty="0"/>
              <a:t>를 잘 검색할 수 있게 잘게 나누고</a:t>
            </a:r>
            <a:r>
              <a:rPr lang="en-US" altLang="ko-KR" dirty="0"/>
              <a:t>(indexing), </a:t>
            </a:r>
            <a:r>
              <a:rPr lang="ko-KR" altLang="en-US" dirty="0"/>
              <a:t>적절히 저장하는 과정 개선</a:t>
            </a:r>
            <a:endParaRPr lang="en-US" altLang="ko-KR" dirty="0"/>
          </a:p>
          <a:p>
            <a:pPr lvl="1"/>
            <a:r>
              <a:rPr lang="ko-KR" altLang="en-US" b="1" dirty="0">
                <a:solidFill>
                  <a:srgbClr val="FF0000"/>
                </a:solidFill>
              </a:rPr>
              <a:t>검색 품질 개선</a:t>
            </a:r>
            <a:r>
              <a:rPr lang="en-US" altLang="ko-KR" b="1" dirty="0"/>
              <a:t>:  </a:t>
            </a:r>
            <a:r>
              <a:rPr lang="en-US" altLang="ko-KR" dirty="0"/>
              <a:t>RAG</a:t>
            </a:r>
            <a:r>
              <a:rPr lang="ko-KR" altLang="en-US" dirty="0"/>
              <a:t>에서 </a:t>
            </a:r>
            <a:r>
              <a:rPr lang="ko-KR" altLang="en-US" dirty="0" err="1"/>
              <a:t>리트리버는</a:t>
            </a:r>
            <a:r>
              <a:rPr lang="ko-KR" altLang="en-US" dirty="0"/>
              <a:t> 질문에 대해 관련 문서를 찾는 역할을 하는데</a:t>
            </a:r>
            <a:r>
              <a:rPr lang="en-US" altLang="ko-KR" dirty="0"/>
              <a:t>, </a:t>
            </a:r>
            <a:r>
              <a:rPr lang="ko-KR" altLang="en-US" dirty="0"/>
              <a:t>해당 기능 개선</a:t>
            </a:r>
            <a:endParaRPr lang="en-US" altLang="ko-KR" dirty="0"/>
          </a:p>
          <a:p>
            <a:pPr lvl="1"/>
            <a:r>
              <a:rPr lang="ko-KR" altLang="en-US" b="1" dirty="0">
                <a:solidFill>
                  <a:srgbClr val="FF0000"/>
                </a:solidFill>
              </a:rPr>
              <a:t>응답 품질 개선</a:t>
            </a:r>
            <a:r>
              <a:rPr lang="en-US" altLang="ko-KR" b="1" dirty="0"/>
              <a:t>:</a:t>
            </a:r>
            <a:r>
              <a:rPr lang="en-US" altLang="ko-KR" dirty="0"/>
              <a:t> LLM</a:t>
            </a:r>
            <a:r>
              <a:rPr lang="ko-KR" altLang="en-US" dirty="0"/>
              <a:t>에게 정보를 줘서 답을 생성할 때</a:t>
            </a:r>
            <a:r>
              <a:rPr lang="en-US" altLang="ko-KR" dirty="0"/>
              <a:t>, </a:t>
            </a:r>
            <a:r>
              <a:rPr lang="ko-KR" altLang="en-US" dirty="0"/>
              <a:t>어떤 식으로 지시</a:t>
            </a:r>
            <a:r>
              <a:rPr lang="en-US" altLang="ko-KR" dirty="0"/>
              <a:t>(prompt)</a:t>
            </a:r>
            <a:r>
              <a:rPr lang="ko-KR" altLang="en-US" dirty="0"/>
              <a:t>할지를 정교하게 디자인</a:t>
            </a:r>
            <a:endParaRPr lang="en-US" altLang="ko-KR" dirty="0"/>
          </a:p>
          <a:p>
            <a:pPr lvl="1"/>
            <a:r>
              <a:rPr lang="en-US" altLang="ko-KR" b="1" dirty="0">
                <a:solidFill>
                  <a:srgbClr val="FF0000"/>
                </a:solidFill>
              </a:rPr>
              <a:t>RAG </a:t>
            </a:r>
            <a:r>
              <a:rPr lang="ko-KR" altLang="en-US" b="1" dirty="0">
                <a:solidFill>
                  <a:srgbClr val="FF0000"/>
                </a:solidFill>
              </a:rPr>
              <a:t>파이프라인 개선</a:t>
            </a:r>
            <a:r>
              <a:rPr lang="en-US" altLang="ko-KR" b="1" dirty="0"/>
              <a:t>: </a:t>
            </a:r>
            <a:r>
              <a:rPr lang="ko-KR" altLang="en-US" dirty="0"/>
              <a:t>쿼리</a:t>
            </a:r>
            <a:r>
              <a:rPr lang="en-US" altLang="ko-KR" dirty="0"/>
              <a:t>-</a:t>
            </a:r>
            <a:r>
              <a:rPr lang="ko-KR" altLang="en-US" dirty="0"/>
              <a:t>인덱싱</a:t>
            </a:r>
            <a:r>
              <a:rPr lang="en-US" altLang="ko-KR" dirty="0"/>
              <a:t>-</a:t>
            </a:r>
            <a:r>
              <a:rPr lang="ko-KR" altLang="en-US" dirty="0"/>
              <a:t>검색</a:t>
            </a:r>
            <a:r>
              <a:rPr lang="en-US" altLang="ko-KR" dirty="0"/>
              <a:t>-</a:t>
            </a:r>
            <a:r>
              <a:rPr lang="ko-KR" altLang="en-US" dirty="0"/>
              <a:t>생성 전체를 하나의 파이프라인으로 보고</a:t>
            </a:r>
            <a:r>
              <a:rPr lang="en-US" altLang="ko-KR" dirty="0"/>
              <a:t>, </a:t>
            </a:r>
            <a:r>
              <a:rPr lang="ko-KR" altLang="en-US" dirty="0"/>
              <a:t>이걸 더 유연하고 확장성 있게 구조 개선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85303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B4D87-7CBB-50A5-7577-EE4A10B31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AA1670D-1216-7C60-895B-7860C10B1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415" y="2107411"/>
            <a:ext cx="7078255" cy="4056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A0CEA26-90E5-5FFE-80A5-3891D59F6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RAG </a:t>
            </a:r>
            <a:r>
              <a:rPr lang="ko-KR" altLang="en-US" dirty="0"/>
              <a:t>시스템 구축 </a:t>
            </a:r>
            <a:r>
              <a:rPr lang="en-US" altLang="ko-KR" dirty="0"/>
              <a:t>|</a:t>
            </a:r>
            <a:r>
              <a:rPr lang="ko-KR" altLang="en-US" dirty="0"/>
              <a:t> 테스트 및 고도화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97826F-3407-83FB-D85D-A2050AD91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8442"/>
            <a:ext cx="10890929" cy="3666744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74938C-3AB9-A7EC-D410-2C87F611B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5CF24CC0-5712-7630-4E58-D6A99EE4813D}"/>
              </a:ext>
            </a:extLst>
          </p:cNvPr>
          <p:cNvSpPr txBox="1">
            <a:spLocks/>
          </p:cNvSpPr>
          <p:nvPr/>
        </p:nvSpPr>
        <p:spPr>
          <a:xfrm>
            <a:off x="792479" y="2785872"/>
            <a:ext cx="10890929" cy="3666744"/>
          </a:xfrm>
          <a:prstGeom prst="rect">
            <a:avLst/>
          </a:prstGeom>
        </p:spPr>
        <p:txBody>
          <a:bodyPr lIns="109728" tIns="109728" rIns="109728" bIns="9144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ko-KR" altLang="en-US" b="1" dirty="0">
                <a:solidFill>
                  <a:srgbClr val="FF0000"/>
                </a:solidFill>
              </a:rPr>
              <a:t>쿼리 개선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08562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9CD36-4633-EC7F-3CB5-72A316EE5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9B5F16E-14E8-5F01-62BB-CD2F23EC3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19065" y="2107411"/>
            <a:ext cx="5932955" cy="4056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D90777A-AD8D-85E7-DF31-8856AE7C2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RAG </a:t>
            </a:r>
            <a:r>
              <a:rPr lang="ko-KR" altLang="en-US" dirty="0"/>
              <a:t>시스템 구축 </a:t>
            </a:r>
            <a:r>
              <a:rPr lang="en-US" altLang="ko-KR" dirty="0"/>
              <a:t>|</a:t>
            </a:r>
            <a:r>
              <a:rPr lang="ko-KR" altLang="en-US" dirty="0"/>
              <a:t> 테스트 및 고도화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D2683F-1788-A3F8-B0F1-2C4D30509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8442"/>
            <a:ext cx="10890929" cy="3666744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480C9E-D348-843E-9BAD-36A98C0AF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796CA45A-DA0B-42DE-35CC-9163FC6BF7DE}"/>
              </a:ext>
            </a:extLst>
          </p:cNvPr>
          <p:cNvSpPr txBox="1">
            <a:spLocks/>
          </p:cNvSpPr>
          <p:nvPr/>
        </p:nvSpPr>
        <p:spPr>
          <a:xfrm>
            <a:off x="792479" y="2785872"/>
            <a:ext cx="10890929" cy="3666744"/>
          </a:xfrm>
          <a:prstGeom prst="rect">
            <a:avLst/>
          </a:prstGeom>
        </p:spPr>
        <p:txBody>
          <a:bodyPr lIns="109728" tIns="109728" rIns="109728" bIns="9144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ko-KR" altLang="en-US" b="1" dirty="0">
                <a:solidFill>
                  <a:srgbClr val="FF0000"/>
                </a:solidFill>
              </a:rPr>
              <a:t>인덱싱 개선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57042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1B24A-12AB-7DA9-B1DE-F72927C10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FDC999F-A8FE-5150-2C06-EAFF70159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19065" y="2324702"/>
            <a:ext cx="5932955" cy="3621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2C8A9B9-BD76-CB9A-29AD-0C0084760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RAG </a:t>
            </a:r>
            <a:r>
              <a:rPr lang="ko-KR" altLang="en-US" dirty="0"/>
              <a:t>시스템 구축 </a:t>
            </a:r>
            <a:r>
              <a:rPr lang="en-US" altLang="ko-KR" dirty="0"/>
              <a:t>|</a:t>
            </a:r>
            <a:r>
              <a:rPr lang="ko-KR" altLang="en-US" dirty="0"/>
              <a:t> 테스트 및 고도화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75A948-11B2-B394-9110-FA74C644A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8442"/>
            <a:ext cx="10890929" cy="3666744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DDE5BD-7303-B181-3F66-926A68084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B436A800-51E7-D37A-892D-59BE4E5C27AD}"/>
              </a:ext>
            </a:extLst>
          </p:cNvPr>
          <p:cNvSpPr txBox="1">
            <a:spLocks/>
          </p:cNvSpPr>
          <p:nvPr/>
        </p:nvSpPr>
        <p:spPr>
          <a:xfrm>
            <a:off x="792479" y="2785872"/>
            <a:ext cx="10890929" cy="3666744"/>
          </a:xfrm>
          <a:prstGeom prst="rect">
            <a:avLst/>
          </a:prstGeom>
        </p:spPr>
        <p:txBody>
          <a:bodyPr lIns="109728" tIns="109728" rIns="109728" bIns="9144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ko-KR" altLang="en-US" b="1" dirty="0">
                <a:solidFill>
                  <a:srgbClr val="FF0000"/>
                </a:solidFill>
              </a:rPr>
              <a:t>검색 품질 개선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032630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8B421-589A-9676-D50E-CBCB0051F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8EEE7C2-84B1-C8D0-A64F-77FB9E023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19065" y="2357159"/>
            <a:ext cx="5932955" cy="3557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4E76E75-35C7-6AC1-092B-1F57A26B6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RAG </a:t>
            </a:r>
            <a:r>
              <a:rPr lang="ko-KR" altLang="en-US" dirty="0"/>
              <a:t>시스템 구축 </a:t>
            </a:r>
            <a:r>
              <a:rPr lang="en-US" altLang="ko-KR" dirty="0"/>
              <a:t>|</a:t>
            </a:r>
            <a:r>
              <a:rPr lang="ko-KR" altLang="en-US" dirty="0"/>
              <a:t> 테스트 및 고도화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563B51-9FBE-5692-C2C0-DFBFE8320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8442"/>
            <a:ext cx="10890929" cy="3666744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23CAB8-2FE4-4A68-8A64-7C3A32134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C4ABC2CA-F243-B4CD-F584-30C4542BB81F}"/>
              </a:ext>
            </a:extLst>
          </p:cNvPr>
          <p:cNvSpPr txBox="1">
            <a:spLocks/>
          </p:cNvSpPr>
          <p:nvPr/>
        </p:nvSpPr>
        <p:spPr>
          <a:xfrm>
            <a:off x="792479" y="2785872"/>
            <a:ext cx="10890929" cy="3666744"/>
          </a:xfrm>
          <a:prstGeom prst="rect">
            <a:avLst/>
          </a:prstGeom>
        </p:spPr>
        <p:txBody>
          <a:bodyPr lIns="109728" tIns="109728" rIns="109728" bIns="9144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ko-KR" altLang="en-US" b="1" dirty="0">
                <a:solidFill>
                  <a:srgbClr val="FF0000"/>
                </a:solidFill>
              </a:rPr>
              <a:t>응답 품질 개선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62522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9BB06-D0C4-1F94-2BB3-94341CC69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8348522-D19F-E147-17C6-EE5C65AE6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19065" y="2402625"/>
            <a:ext cx="5932955" cy="3466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8DD7454-83C5-A626-3444-046B63F8B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RAG </a:t>
            </a:r>
            <a:r>
              <a:rPr lang="ko-KR" altLang="en-US" dirty="0"/>
              <a:t>시스템 구축 </a:t>
            </a:r>
            <a:r>
              <a:rPr lang="en-US" altLang="ko-KR" dirty="0"/>
              <a:t>|</a:t>
            </a:r>
            <a:r>
              <a:rPr lang="ko-KR" altLang="en-US" dirty="0"/>
              <a:t> 테스트 및 고도화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C34A5A-AE6B-E041-F2D8-5CB785A8D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638442"/>
            <a:ext cx="10890929" cy="3666744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211FFE-197B-122A-2152-E47BE48A4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07995" y="6356350"/>
            <a:ext cx="72301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9340F238-86F0-451A-3D2D-C5AD3783FBC3}"/>
              </a:ext>
            </a:extLst>
          </p:cNvPr>
          <p:cNvSpPr txBox="1">
            <a:spLocks/>
          </p:cNvSpPr>
          <p:nvPr/>
        </p:nvSpPr>
        <p:spPr>
          <a:xfrm>
            <a:off x="792479" y="2785872"/>
            <a:ext cx="10890929" cy="3666744"/>
          </a:xfrm>
          <a:prstGeom prst="rect">
            <a:avLst/>
          </a:prstGeom>
        </p:spPr>
        <p:txBody>
          <a:bodyPr lIns="109728" tIns="109728" rIns="109728" bIns="9144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87000"/>
              <a:buFont typeface="Arial" panose="020B0604020202020204" pitchFamily="34" charset="0"/>
              <a:buChar char="•"/>
              <a:defRPr sz="20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3776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8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6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51560" indent="-2857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8448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87000"/>
              <a:buFont typeface="Arial" panose="020B0604020202020204" pitchFamily="34" charset="0"/>
              <a:buChar char="•"/>
              <a:defRPr sz="1400" kern="1200" spc="9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+mj-lt"/>
              <a:buAutoNum type="arabicPeriod"/>
            </a:pPr>
            <a:r>
              <a:rPr lang="en-US" altLang="ko-KR" b="1" dirty="0">
                <a:solidFill>
                  <a:srgbClr val="FF0000"/>
                </a:solidFill>
              </a:rPr>
              <a:t>RAG </a:t>
            </a:r>
            <a:r>
              <a:rPr lang="ko-KR" altLang="en-US" b="1" dirty="0">
                <a:solidFill>
                  <a:srgbClr val="FF0000"/>
                </a:solidFill>
              </a:rPr>
              <a:t>파이프라인 개선</a:t>
            </a:r>
            <a:endParaRPr lang="en-US" altLang="ko-KR" dirty="0"/>
          </a:p>
          <a:p>
            <a:pPr marL="342900" indent="-342900">
              <a:buFont typeface="+mj-lt"/>
              <a:buAutoNum type="arabicPeriod"/>
            </a:pP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5654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8DBF6-59D2-BA8D-043A-55CEE97DD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3967AE-23AF-2C59-EC14-45769D9E0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737859" cy="109728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ko-KR" altLang="en-US" sz="2400" dirty="0"/>
              <a:t>결론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61DF6D-F1DE-E05F-39D0-2603D6C8F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9804214" cy="3666980"/>
          </a:xfrm>
        </p:spPr>
        <p:txBody>
          <a:bodyPr>
            <a:normAutofit/>
          </a:bodyPr>
          <a:lstStyle/>
          <a:p>
            <a:endParaRPr lang="en-US" altLang="ko-KR" sz="14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032CB7-6862-11BD-CFFA-73F768501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2491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1A1876-8DDA-0778-7DDB-54D8C9A8D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2880360"/>
            <a:ext cx="10890929" cy="1097280"/>
          </a:xfrm>
        </p:spPr>
        <p:txBody>
          <a:bodyPr/>
          <a:lstStyle/>
          <a:p>
            <a:pPr algn="ctr"/>
            <a:r>
              <a:rPr lang="ko-KR" altLang="en-US" dirty="0"/>
              <a:t>감사합니다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81858CC-2B2D-E12B-9725-4760D57A7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223468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AnalogousFromRegularSeedLeftStep">
      <a:dk1>
        <a:srgbClr val="000000"/>
      </a:dk1>
      <a:lt1>
        <a:srgbClr val="FFFFFF"/>
      </a:lt1>
      <a:dk2>
        <a:srgbClr val="311C22"/>
      </a:dk2>
      <a:lt2>
        <a:srgbClr val="F0F3F3"/>
      </a:lt2>
      <a:accent1>
        <a:srgbClr val="E75429"/>
      </a:accent1>
      <a:accent2>
        <a:srgbClr val="D5173B"/>
      </a:accent2>
      <a:accent3>
        <a:srgbClr val="E7299C"/>
      </a:accent3>
      <a:accent4>
        <a:srgbClr val="D117D5"/>
      </a:accent4>
      <a:accent5>
        <a:srgbClr val="9329E7"/>
      </a:accent5>
      <a:accent6>
        <a:srgbClr val="462ED9"/>
      </a:accent6>
      <a:hlink>
        <a:srgbClr val="3A96B0"/>
      </a:hlink>
      <a:folHlink>
        <a:srgbClr val="7F7F7F"/>
      </a:folHlink>
    </a:clrScheme>
    <a:fontScheme name="grandview display">
      <a:majorFont>
        <a:latin typeface="Microsoft GothicNeo"/>
        <a:ea typeface=""/>
        <a:cs typeface=""/>
      </a:majorFont>
      <a:minorFont>
        <a:latin typeface="Microsoft GothicNe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48F1BEEAF3EFE43936AFCC53DBF9A92" ma:contentTypeVersion="9" ma:contentTypeDescription="새 문서를 만듭니다." ma:contentTypeScope="" ma:versionID="e7b206298c4c68f73b810bcc994b2165">
  <xsd:schema xmlns:xsd="http://www.w3.org/2001/XMLSchema" xmlns:xs="http://www.w3.org/2001/XMLSchema" xmlns:p="http://schemas.microsoft.com/office/2006/metadata/properties" xmlns:ns2="988812d9-c751-454c-9347-4f485b5be1fa" xmlns:ns3="1a46b327-14ec-45e9-851e-8190ad6dbcf8" targetNamespace="http://schemas.microsoft.com/office/2006/metadata/properties" ma:root="true" ma:fieldsID="25dc64f52feeb90294c480c09eab4105" ns2:_="" ns3:_="">
    <xsd:import namespace="988812d9-c751-454c-9347-4f485b5be1fa"/>
    <xsd:import namespace="1a46b327-14ec-45e9-851e-8190ad6dbcf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8812d9-c751-454c-9347-4f485b5be1f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6b327-14ec-45e9-851e-8190ad6dbcf8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834F8C4-1047-4A2D-A754-345B752678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8812d9-c751-454c-9347-4f485b5be1fa"/>
    <ds:schemaRef ds:uri="1a46b327-14ec-45e9-851e-8190ad6dbcf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49DA6E4-3A4E-40C1-B974-DCFE059CB6B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BEEB004-1B38-4509-9582-993C9EAB53DD}">
  <ds:schemaRefs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1a46b327-14ec-45e9-851e-8190ad6dbcf8"/>
    <ds:schemaRef ds:uri="http://purl.org/dc/terms/"/>
    <ds:schemaRef ds:uri="http://schemas.microsoft.com/office/2006/metadata/properties"/>
    <ds:schemaRef ds:uri="988812d9-c751-454c-9347-4f485b5be1fa"/>
    <ds:schemaRef ds:uri="http://purl.org/dc/elements/1.1/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4028</TotalTime>
  <Words>664</Words>
  <Application>Microsoft Office PowerPoint</Application>
  <PresentationFormat>와이드스크린</PresentationFormat>
  <Paragraphs>165</Paragraphs>
  <Slides>19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Microsoft GothicNeo</vt:lpstr>
      <vt:lpstr>Microsoft GothicNeo Light</vt:lpstr>
      <vt:lpstr>맑은 고딕</vt:lpstr>
      <vt:lpstr>Arial</vt:lpstr>
      <vt:lpstr>DashVTI</vt:lpstr>
      <vt:lpstr>AI Prompt 프로젝트 (RAG)</vt:lpstr>
      <vt:lpstr>Contents table</vt:lpstr>
      <vt:lpstr>RAG 개요</vt:lpstr>
      <vt:lpstr>RAG 개요</vt:lpstr>
      <vt:lpstr>RAG 구성 요소별 툴 개념</vt:lpstr>
      <vt:lpstr>RAG 구성 요소별 툴 개념</vt:lpstr>
      <vt:lpstr>RAG 시스템 구축 | Vector DB 구축</vt:lpstr>
      <vt:lpstr>RAG 시스템 구축 | Vector DB 구축</vt:lpstr>
      <vt:lpstr>RAG 시스템 구축 | Document searching 알고리즘 구현</vt:lpstr>
      <vt:lpstr>RAG 시스템 구축 | Prompt 설계 및 LLM 추론 최적화</vt:lpstr>
      <vt:lpstr>RAG 시스템 구축 | 운영/관리 정책 설정 </vt:lpstr>
      <vt:lpstr>RAG 시스템 구축 | 테스트 및 고도화</vt:lpstr>
      <vt:lpstr>RAG 시스템 구축 | 테스트 및 고도화</vt:lpstr>
      <vt:lpstr>RAG 시스템 구축 | 테스트 및 고도화</vt:lpstr>
      <vt:lpstr>RAG 시스템 구축 | 테스트 및 고도화</vt:lpstr>
      <vt:lpstr>RAG 시스템 구축 | 테스트 및 고도화</vt:lpstr>
      <vt:lpstr>RAG 시스템 구축 | 테스트 및 고도화</vt:lpstr>
      <vt:lpstr>결론</vt:lpstr>
      <vt:lpstr>감사합니다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김선준</dc:creator>
  <cp:lastModifiedBy>선준 김</cp:lastModifiedBy>
  <cp:revision>77</cp:revision>
  <dcterms:created xsi:type="dcterms:W3CDTF">2025-01-15T00:13:00Z</dcterms:created>
  <dcterms:modified xsi:type="dcterms:W3CDTF">2025-04-24T04:47:11Z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0x010100548F1BEEAF3EFE43936AFCC53DBF9A92</vt:lpwstr>
  </property>
</Properties>
</file>