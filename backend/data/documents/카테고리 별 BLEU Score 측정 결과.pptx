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37BAE-F3A7-F0AB-FD60-977D38B35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87112B-578E-4531-F4CB-7508584F8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4963BF-73BD-1701-A1F8-6FFCC63B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1F9CB3-8914-8A7F-F711-9736AEF3A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215153-3A3E-7428-E37C-1704825A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05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4932C-C263-B3C8-E1EF-73271751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EA8DAD-9DD8-2245-278B-3FD981830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CFA8E2-0C27-90E0-72FB-B418CE2E7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524BBD-A89E-50E4-248E-DF7B856B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B2AA43-C7F4-B50A-8886-75BB2526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36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54C32-2DF3-3FE6-D5EB-7E1583B9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C6F24-6E33-1D9F-FBCB-7DB999F82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D5A62C-4394-98A0-B8CA-D9D0D667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9C4745-F530-D82F-1B6F-13065D7F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74EE99-B62F-EC2B-0D98-965C1371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311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57A68-FEF1-0D59-DCB2-9B23644F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29A40-FF71-59D9-2B23-AF444D563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CF25F7-6900-02D7-619C-76DD3462F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4C0FD2-B4E2-27E5-DF1C-E002C7D4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CDB5AA-7C5A-EAF3-EB08-3AA102383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B0C2ED-11E0-74EC-9E73-C2BA3014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10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5FB07-221A-B5F5-E2CB-902273BC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F72177-0489-1033-8FEB-3A7B83D4F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44FDA1-EADD-7B72-3D7C-08906F7D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DEE720-1AB7-A423-5695-8534C4667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2B1D01-E38E-B9E7-15D8-566141772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1193B9-F417-B788-CFE0-85BA8AE4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DDA383-F8D2-CE19-9E12-F307DD87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B70F1A-8EA1-E1E4-CE9A-422CBD8D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59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0D93F-1FEE-D54B-A673-BE5126ED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C7988E-489F-CB33-BC73-C2D80ED3F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4AC3C7-1084-6CFE-DD7E-E96DACF5E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3D92E0-5E7D-C37F-73F1-13A8736E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84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DF71ED-4EEF-0593-A203-F8B363885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C1ACCD-D3F7-AB68-E2D7-6BFD375A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F9189-733D-D944-19BF-3CB2F38C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16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2D348-CE3B-E06F-B171-7BAEB75C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3700E-7EA9-658C-8173-D44720B53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DE5F6C-265B-7455-A130-660C75E22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70ABBB-0D19-9011-1735-65263E749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AFD9EB-0B58-0FCE-7D23-D6AEF991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E071C3-63F2-B014-A051-17C2FF6D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30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40B1D-B860-E651-B13C-90164A35E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87C575-8C7A-D077-541F-E24FA582E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09CCC2-5E7A-25E4-1721-44EE7D093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DDA2F2-B9D1-EC47-1247-6E29368D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964920-C422-9EE7-E660-C7A14368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B1F2FB-428D-586B-EFE8-842723C9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8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47BC4-3486-8A24-AB3C-7F5A6234B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F39CF0-9474-FA84-3305-C4B28C971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CC8475-CFE2-D945-6728-C54B1121C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0B0EF-6DBA-FB0D-9EDA-B4B0645CD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95380-89ED-AECE-F289-672B3E6E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719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D647FA-9587-CDFE-1E2A-F174E6121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36CF71-3059-9868-3848-AFC8E3B7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BEF730-9889-57EE-AF37-94000599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D45B6C-9579-9CE8-6863-03A8CA3A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C14FE0-D219-051D-1268-268BCE3C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89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AE780C-B6B0-9BC3-745A-6B6510B6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B9A25F-94E0-0762-5F5A-FA34B7069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9E54E3-AB13-595B-41D4-D8821B66C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96BE1-02FF-45AC-A501-3F08AC2F26D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FC62D-6DBB-9BCF-EFB7-4F93134D7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05992-3E37-C851-DCEC-42C91D004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531D6-DBE3-436F-BFE1-D9F5141C10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83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37CC07-8BE7-98AB-CBCD-8D4D8D59EB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카테고리 별 </a:t>
            </a:r>
            <a:r>
              <a:rPr lang="en-US" altLang="ko-KR" dirty="0"/>
              <a:t>BLEU Score </a:t>
            </a:r>
            <a:r>
              <a:rPr lang="ko-KR" altLang="en-US" dirty="0"/>
              <a:t>측정 결과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10FC49-A5BA-C308-A0FC-555970519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538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1F69577-6859-81F8-58F8-8EE34888B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eaLnBrk="1" fontAlgn="base" latinLnBrk="0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ko-KR" sz="26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Korean to English</a:t>
            </a:r>
          </a:p>
          <a:p>
            <a:pPr marL="0" marR="0" lvl="0" indent="0" algn="ctr" eaLnBrk="1" fontAlgn="base" latinLnBrk="0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ko-KR" sz="2600" b="0" i="0" u="none" strike="noStrike" kern="1200" cap="none" normalizeH="0" baseline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D0D1FF0-B1A1-E5F9-F44E-53E7A5181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19548"/>
              </p:ext>
            </p:extLst>
          </p:nvPr>
        </p:nvGraphicFramePr>
        <p:xfrm>
          <a:off x="4038600" y="2311579"/>
          <a:ext cx="7188203" cy="2231460"/>
        </p:xfrm>
        <a:graphic>
          <a:graphicData uri="http://schemas.openxmlformats.org/drawingml/2006/table">
            <a:tbl>
              <a:tblPr firstRow="1" bandRow="1"/>
              <a:tblGrid>
                <a:gridCol w="1731233">
                  <a:extLst>
                    <a:ext uri="{9D8B030D-6E8A-4147-A177-3AD203B41FA5}">
                      <a16:colId xmlns:a16="http://schemas.microsoft.com/office/drawing/2014/main" val="1427290408"/>
                    </a:ext>
                  </a:extLst>
                </a:gridCol>
                <a:gridCol w="745624">
                  <a:extLst>
                    <a:ext uri="{9D8B030D-6E8A-4147-A177-3AD203B41FA5}">
                      <a16:colId xmlns:a16="http://schemas.microsoft.com/office/drawing/2014/main" val="1841967490"/>
                    </a:ext>
                  </a:extLst>
                </a:gridCol>
                <a:gridCol w="787425">
                  <a:extLst>
                    <a:ext uri="{9D8B030D-6E8A-4147-A177-3AD203B41FA5}">
                      <a16:colId xmlns:a16="http://schemas.microsoft.com/office/drawing/2014/main" val="2392718845"/>
                    </a:ext>
                  </a:extLst>
                </a:gridCol>
                <a:gridCol w="890825">
                  <a:extLst>
                    <a:ext uri="{9D8B030D-6E8A-4147-A177-3AD203B41FA5}">
                      <a16:colId xmlns:a16="http://schemas.microsoft.com/office/drawing/2014/main" val="1609776903"/>
                    </a:ext>
                  </a:extLst>
                </a:gridCol>
                <a:gridCol w="802824">
                  <a:extLst>
                    <a:ext uri="{9D8B030D-6E8A-4147-A177-3AD203B41FA5}">
                      <a16:colId xmlns:a16="http://schemas.microsoft.com/office/drawing/2014/main" val="3379615440"/>
                    </a:ext>
                  </a:extLst>
                </a:gridCol>
                <a:gridCol w="743424">
                  <a:extLst>
                    <a:ext uri="{9D8B030D-6E8A-4147-A177-3AD203B41FA5}">
                      <a16:colId xmlns:a16="http://schemas.microsoft.com/office/drawing/2014/main" val="2875091406"/>
                    </a:ext>
                  </a:extLst>
                </a:gridCol>
                <a:gridCol w="743424">
                  <a:extLst>
                    <a:ext uri="{9D8B030D-6E8A-4147-A177-3AD203B41FA5}">
                      <a16:colId xmlns:a16="http://schemas.microsoft.com/office/drawing/2014/main" val="3363480685"/>
                    </a:ext>
                  </a:extLst>
                </a:gridCol>
                <a:gridCol w="743424">
                  <a:extLst>
                    <a:ext uri="{9D8B030D-6E8A-4147-A177-3AD203B41FA5}">
                      <a16:colId xmlns:a16="http://schemas.microsoft.com/office/drawing/2014/main" val="1988960372"/>
                    </a:ext>
                  </a:extLst>
                </a:gridCol>
              </a:tblGrid>
              <a:tr h="31878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0" dirty="0">
                          <a:effectLst/>
                          <a:latin typeface="ui-sans-serif"/>
                        </a:rPr>
                        <a:t> </a:t>
                      </a:r>
                    </a:p>
                  </a:txBody>
                  <a:tcPr marL="56889" marR="56889" marT="28444" marB="284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effectLst/>
                          <a:latin typeface="ui-sans-serif"/>
                        </a:rPr>
                        <a:t>google</a:t>
                      </a:r>
                      <a:endParaRPr lang="en-US" sz="1400" b="0" dirty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papago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samsung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chatgpt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deepl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flitto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llsollu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743736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경제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경영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37.009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36.963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33.484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38.898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31.969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32.399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31.474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88849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과학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기술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산업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32.966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31.937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29.048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38.219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33.963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30.13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31.116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933385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라이프스타일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웰빙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24.241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19.005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21.651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18.385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20.845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17.574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22.773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832515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예술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문화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문학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26.113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18.038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18.603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19.716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17.901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14.853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18.176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938665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정치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시사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21.634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18.538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17.53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18.275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16.593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17.791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19.265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415585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전체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6889" marR="56889" marT="28444" marB="28444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35.737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34.610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31.656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40.257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37.400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32.452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33.124</a:t>
                      </a:r>
                    </a:p>
                  </a:txBody>
                  <a:tcPr marL="56889" marR="56889" marT="28444" marB="28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513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91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1523F13-1CB9-31F2-3A19-BC99192C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base" latinLnBrk="0">
              <a:spcAft>
                <a:spcPct val="0"/>
              </a:spcAft>
              <a:buClrTx/>
              <a:buSzTx/>
              <a:tabLst/>
            </a:pPr>
            <a:r>
              <a:rPr kumimoji="0" lang="en-US" altLang="ko-KR" sz="22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English to Korean (ko-mocab korean tokenization </a:t>
            </a:r>
            <a:r>
              <a:rPr kumimoji="0" lang="ko-KR" altLang="en-US" sz="22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사용</a:t>
            </a:r>
            <a:r>
              <a:rPr kumimoji="0" lang="en-US" altLang="ko-KR" sz="22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) </a:t>
            </a:r>
          </a:p>
          <a:p>
            <a:pPr marL="0" marR="0" lvl="0" indent="0" algn="ctr" fontAlgn="base" latinLnBrk="0">
              <a:spcAft>
                <a:spcPct val="0"/>
              </a:spcAft>
              <a:buClrTx/>
              <a:buSzTx/>
              <a:tabLst/>
            </a:pPr>
            <a:endParaRPr kumimoji="0" lang="en-US" altLang="ko-KR" sz="2200" b="0" i="0" u="none" strike="noStrike" kern="1200" cap="none" normalizeH="0" baseline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47C3515-EA96-6747-B223-E057E08F1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379819"/>
              </p:ext>
            </p:extLst>
          </p:nvPr>
        </p:nvGraphicFramePr>
        <p:xfrm>
          <a:off x="4038600" y="2304211"/>
          <a:ext cx="7188203" cy="2246195"/>
        </p:xfrm>
        <a:graphic>
          <a:graphicData uri="http://schemas.openxmlformats.org/drawingml/2006/table">
            <a:tbl>
              <a:tblPr firstRow="1" bandRow="1"/>
              <a:tblGrid>
                <a:gridCol w="1748102">
                  <a:extLst>
                    <a:ext uri="{9D8B030D-6E8A-4147-A177-3AD203B41FA5}">
                      <a16:colId xmlns:a16="http://schemas.microsoft.com/office/drawing/2014/main" val="1816856884"/>
                    </a:ext>
                  </a:extLst>
                </a:gridCol>
                <a:gridCol w="751087">
                  <a:extLst>
                    <a:ext uri="{9D8B030D-6E8A-4147-A177-3AD203B41FA5}">
                      <a16:colId xmlns:a16="http://schemas.microsoft.com/office/drawing/2014/main" val="1399233038"/>
                    </a:ext>
                  </a:extLst>
                </a:gridCol>
                <a:gridCol w="793372">
                  <a:extLst>
                    <a:ext uri="{9D8B030D-6E8A-4147-A177-3AD203B41FA5}">
                      <a16:colId xmlns:a16="http://schemas.microsoft.com/office/drawing/2014/main" val="2223270833"/>
                    </a:ext>
                  </a:extLst>
                </a:gridCol>
                <a:gridCol w="897969">
                  <a:extLst>
                    <a:ext uri="{9D8B030D-6E8A-4147-A177-3AD203B41FA5}">
                      <a16:colId xmlns:a16="http://schemas.microsoft.com/office/drawing/2014/main" val="2946647310"/>
                    </a:ext>
                  </a:extLst>
                </a:gridCol>
                <a:gridCol w="808950">
                  <a:extLst>
                    <a:ext uri="{9D8B030D-6E8A-4147-A177-3AD203B41FA5}">
                      <a16:colId xmlns:a16="http://schemas.microsoft.com/office/drawing/2014/main" val="64009745"/>
                    </a:ext>
                  </a:extLst>
                </a:gridCol>
                <a:gridCol w="751087">
                  <a:extLst>
                    <a:ext uri="{9D8B030D-6E8A-4147-A177-3AD203B41FA5}">
                      <a16:colId xmlns:a16="http://schemas.microsoft.com/office/drawing/2014/main" val="751333472"/>
                    </a:ext>
                  </a:extLst>
                </a:gridCol>
                <a:gridCol w="748862">
                  <a:extLst>
                    <a:ext uri="{9D8B030D-6E8A-4147-A177-3AD203B41FA5}">
                      <a16:colId xmlns:a16="http://schemas.microsoft.com/office/drawing/2014/main" val="1304799014"/>
                    </a:ext>
                  </a:extLst>
                </a:gridCol>
                <a:gridCol w="688774">
                  <a:extLst>
                    <a:ext uri="{9D8B030D-6E8A-4147-A177-3AD203B41FA5}">
                      <a16:colId xmlns:a16="http://schemas.microsoft.com/office/drawing/2014/main" val="3373605578"/>
                    </a:ext>
                  </a:extLst>
                </a:gridCol>
              </a:tblGrid>
              <a:tr h="3208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0" dirty="0">
                          <a:effectLst/>
                          <a:latin typeface="ui-sans-serif"/>
                        </a:rPr>
                        <a:t> </a:t>
                      </a:r>
                    </a:p>
                  </a:txBody>
                  <a:tcPr marL="55964" marR="55964" marT="27981" marB="27981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effectLst/>
                          <a:latin typeface="ui-sans-serif"/>
                        </a:rPr>
                        <a:t>google</a:t>
                      </a:r>
                      <a:endParaRPr lang="en-US" sz="1400" b="0" dirty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 err="1">
                          <a:effectLst/>
                          <a:latin typeface="ui-sans-serif"/>
                        </a:rPr>
                        <a:t>papago</a:t>
                      </a:r>
                      <a:endParaRPr lang="en-US" sz="1400" b="0" dirty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samsung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chatgpt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deepl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flitto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  <a:latin typeface="ui-sans-serif"/>
                        </a:rPr>
                        <a:t>llsollu</a:t>
                      </a:r>
                      <a:endParaRPr 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973175"/>
                  </a:ext>
                </a:extLst>
              </a:tr>
              <a:tr h="3208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과학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기술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산업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44.428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38.294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39.275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41.620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40.324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31.581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0.0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38926"/>
                  </a:ext>
                </a:extLst>
              </a:tr>
              <a:tr h="3208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라이프스타일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웰빙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53.884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36.32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34.781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49.406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44.302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32.066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0.0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4865"/>
                  </a:ext>
                </a:extLst>
              </a:tr>
              <a:tr h="3208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여성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패션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뷰티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38.458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35.481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35.291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31.732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38.583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28.771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0.0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327800"/>
                  </a:ext>
                </a:extLst>
              </a:tr>
              <a:tr h="3208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정치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시사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39.591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34.144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39.787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34.191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37.75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35.261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0.0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69875"/>
                  </a:ext>
                </a:extLst>
              </a:tr>
              <a:tr h="3208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취미</a:t>
                      </a:r>
                      <a:r>
                        <a:rPr lang="en-US" altLang="ko-KR" sz="1400" b="1">
                          <a:effectLst/>
                          <a:latin typeface="ui-sans-serif"/>
                        </a:rPr>
                        <a:t>/</a:t>
                      </a:r>
                      <a:r>
                        <a:rPr lang="ko-KR" altLang="en-US" sz="1400" b="1">
                          <a:effectLst/>
                          <a:latin typeface="ui-sans-serif"/>
                        </a:rPr>
                        <a:t>자동차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  <a:latin typeface="ui-sans-serif"/>
                        </a:rPr>
                        <a:t>44.133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34.933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35.948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42.372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37.602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29.531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0.0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359760"/>
                  </a:ext>
                </a:extLst>
              </a:tr>
              <a:tr h="3208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400" b="1">
                          <a:effectLst/>
                          <a:latin typeface="ui-sans-serif"/>
                        </a:rPr>
                        <a:t>전체</a:t>
                      </a:r>
                      <a:endParaRPr lang="ko-KR" altLang="en-US" sz="1400" b="0">
                        <a:effectLst/>
                        <a:latin typeface="ui-sans-serif"/>
                      </a:endParaRPr>
                    </a:p>
                  </a:txBody>
                  <a:tcPr marL="55964" marR="55964" marT="27981" marB="27981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50.567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44.829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46.379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48.713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46.197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>
                          <a:effectLst/>
                          <a:latin typeface="ui-sans-serif"/>
                        </a:rPr>
                        <a:t>38.722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400" b="0" dirty="0">
                          <a:effectLst/>
                          <a:latin typeface="ui-sans-serif"/>
                        </a:rPr>
                        <a:t>0.0</a:t>
                      </a:r>
                    </a:p>
                  </a:txBody>
                  <a:tcPr marL="55964" marR="55964" marT="27981" marB="279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39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82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20EEB-0E22-BCA4-1966-AEFDFF94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428C96-09E2-180C-7818-7E3D97503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현재 테스트 가능한 </a:t>
            </a:r>
            <a:r>
              <a:rPr lang="ko-KR" altLang="en-US" sz="2000" dirty="0">
                <a:solidFill>
                  <a:srgbClr val="FF0000"/>
                </a:solidFill>
              </a:rPr>
              <a:t>전체 데이터 셋이 </a:t>
            </a:r>
            <a:r>
              <a:rPr lang="en-US" altLang="ko-KR" sz="2000" dirty="0">
                <a:solidFill>
                  <a:srgbClr val="FF0000"/>
                </a:solidFill>
              </a:rPr>
              <a:t>20</a:t>
            </a:r>
            <a:r>
              <a:rPr lang="ko-KR" altLang="en-US" sz="2000" dirty="0">
                <a:solidFill>
                  <a:srgbClr val="FF0000"/>
                </a:solidFill>
              </a:rPr>
              <a:t>개 </a:t>
            </a:r>
            <a:r>
              <a:rPr lang="en-US" altLang="ko-KR" sz="2000" dirty="0"/>
              <a:t>(</a:t>
            </a:r>
            <a:r>
              <a:rPr lang="ko-KR" altLang="en-US" sz="2000" dirty="0"/>
              <a:t>한글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영어 </a:t>
            </a:r>
            <a:r>
              <a:rPr lang="en-US" altLang="ko-KR" sz="2000" dirty="0">
                <a:sym typeface="Wingdings" panose="05000000000000000000" pitchFamily="2" charset="2"/>
              </a:rPr>
              <a:t>10, </a:t>
            </a:r>
            <a:r>
              <a:rPr lang="ko-KR" altLang="en-US" sz="2000" dirty="0">
                <a:sym typeface="Wingdings" panose="05000000000000000000" pitchFamily="2" charset="2"/>
              </a:rPr>
              <a:t>영어</a:t>
            </a:r>
            <a:r>
              <a:rPr lang="en-US" altLang="ko-KR" sz="2000" dirty="0">
                <a:sym typeface="Wingdings" panose="05000000000000000000" pitchFamily="2" charset="2"/>
              </a:rPr>
              <a:t>  </a:t>
            </a:r>
            <a:r>
              <a:rPr lang="ko-KR" altLang="en-US" sz="2000" dirty="0">
                <a:sym typeface="Wingdings" panose="05000000000000000000" pitchFamily="2" charset="2"/>
              </a:rPr>
              <a:t>한글</a:t>
            </a:r>
            <a:r>
              <a:rPr lang="en-US" altLang="ko-KR" sz="2000" dirty="0">
                <a:sym typeface="Wingdings" panose="05000000000000000000" pitchFamily="2" charset="2"/>
              </a:rPr>
              <a:t> 10)</a:t>
            </a:r>
            <a:r>
              <a:rPr lang="ko-KR" altLang="en-US" sz="2000" dirty="0"/>
              <a:t> 밖에 없는 상태에서 진행한 테스트이므로 </a:t>
            </a:r>
            <a:r>
              <a:rPr lang="ko-KR" altLang="en-US" sz="2000" dirty="0">
                <a:solidFill>
                  <a:srgbClr val="FF0000"/>
                </a:solidFill>
              </a:rPr>
              <a:t>신뢰성 매우 떨어짐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ko-KR" altLang="en-US" sz="2000" dirty="0"/>
              <a:t>카테고리별로 분리할 경우 </a:t>
            </a:r>
            <a:r>
              <a:rPr lang="ko-KR" altLang="en-US" sz="2000" dirty="0">
                <a:solidFill>
                  <a:srgbClr val="FF0000"/>
                </a:solidFill>
              </a:rPr>
              <a:t>각 카테고리 마다 </a:t>
            </a:r>
            <a:r>
              <a:rPr lang="en-US" altLang="ko-KR" sz="2000" dirty="0">
                <a:solidFill>
                  <a:srgbClr val="FF0000"/>
                </a:solidFill>
              </a:rPr>
              <a:t>1~2</a:t>
            </a:r>
            <a:r>
              <a:rPr lang="ko-KR" altLang="en-US" sz="2000" dirty="0">
                <a:solidFill>
                  <a:srgbClr val="FF0000"/>
                </a:solidFill>
              </a:rPr>
              <a:t>개정도의 </a:t>
            </a:r>
            <a:r>
              <a:rPr lang="en-US" altLang="ko-KR" sz="2000" dirty="0">
                <a:solidFill>
                  <a:srgbClr val="FF0000"/>
                </a:solidFill>
              </a:rPr>
              <a:t>article </a:t>
            </a:r>
            <a:r>
              <a:rPr lang="ko-KR" altLang="en-US" sz="2000" dirty="0">
                <a:solidFill>
                  <a:srgbClr val="FF0000"/>
                </a:solidFill>
              </a:rPr>
              <a:t>밖에 없는 상황</a:t>
            </a:r>
            <a:r>
              <a:rPr lang="en-US" altLang="ko-KR" sz="2000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거기에 </a:t>
            </a:r>
            <a:r>
              <a:rPr lang="en-US" altLang="ko-KR" sz="2000" dirty="0"/>
              <a:t>Reference text </a:t>
            </a:r>
            <a:r>
              <a:rPr lang="ko-KR" altLang="en-US" sz="2000" dirty="0"/>
              <a:t>또한 </a:t>
            </a:r>
            <a:r>
              <a:rPr lang="ko-KR" altLang="en-US" sz="2000" dirty="0">
                <a:solidFill>
                  <a:srgbClr val="FF0000"/>
                </a:solidFill>
              </a:rPr>
              <a:t>데이터마다 </a:t>
            </a:r>
            <a:r>
              <a:rPr lang="en-US" altLang="ko-KR" sz="2000" dirty="0">
                <a:solidFill>
                  <a:srgbClr val="FF0000"/>
                </a:solidFill>
              </a:rPr>
              <a:t>1</a:t>
            </a:r>
            <a:r>
              <a:rPr lang="ko-KR" altLang="en-US" sz="2000" dirty="0">
                <a:solidFill>
                  <a:srgbClr val="FF0000"/>
                </a:solidFill>
              </a:rPr>
              <a:t>개씩 </a:t>
            </a:r>
            <a:r>
              <a:rPr lang="ko-KR" altLang="en-US" sz="2000" dirty="0"/>
              <a:t>밖에 없는 상황이라 해당 테스트 결과물은 신뢰하기 힘듦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추가적으로 좀 더 정밀한 테스트를 위해서는 </a:t>
            </a:r>
            <a:r>
              <a:rPr lang="ko-KR" altLang="en-US" sz="2000" dirty="0">
                <a:solidFill>
                  <a:srgbClr val="FF0000"/>
                </a:solidFill>
              </a:rPr>
              <a:t>최소 언어별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카테고리 별 </a:t>
            </a:r>
            <a:r>
              <a:rPr lang="en-US" altLang="ko-KR" sz="2000" dirty="0">
                <a:solidFill>
                  <a:srgbClr val="FF0000"/>
                </a:solidFill>
              </a:rPr>
              <a:t>50</a:t>
            </a:r>
            <a:r>
              <a:rPr lang="ko-KR" altLang="en-US" sz="2000" dirty="0">
                <a:solidFill>
                  <a:srgbClr val="FF0000"/>
                </a:solidFill>
              </a:rPr>
              <a:t>개</a:t>
            </a:r>
            <a:r>
              <a:rPr lang="en-US" altLang="ko-KR" sz="2000" dirty="0">
                <a:sym typeface="Wingdings" panose="05000000000000000000" pitchFamily="2" charset="2"/>
              </a:rPr>
              <a:t> </a:t>
            </a:r>
            <a:r>
              <a:rPr lang="ko-KR" altLang="en-US" sz="2000" dirty="0"/>
              <a:t>의 </a:t>
            </a:r>
            <a:r>
              <a:rPr lang="en-US" altLang="ko-KR" sz="2000" dirty="0"/>
              <a:t>article </a:t>
            </a:r>
            <a:r>
              <a:rPr lang="ko-KR" altLang="en-US" sz="2000" dirty="0"/>
              <a:t>과 </a:t>
            </a:r>
            <a:r>
              <a:rPr lang="en-US" altLang="ko-KR" sz="2000" dirty="0">
                <a:solidFill>
                  <a:srgbClr val="FF0000"/>
                </a:solidFill>
              </a:rPr>
              <a:t>article </a:t>
            </a:r>
            <a:r>
              <a:rPr lang="ko-KR" altLang="en-US" sz="2000" dirty="0">
                <a:solidFill>
                  <a:srgbClr val="FF0000"/>
                </a:solidFill>
              </a:rPr>
              <a:t>별 </a:t>
            </a:r>
            <a:r>
              <a:rPr lang="en-US" altLang="ko-KR" sz="2000" dirty="0">
                <a:solidFill>
                  <a:srgbClr val="FF0000"/>
                </a:solidFill>
              </a:rPr>
              <a:t>3</a:t>
            </a:r>
            <a:r>
              <a:rPr lang="ko-KR" altLang="en-US" sz="2000" dirty="0">
                <a:solidFill>
                  <a:srgbClr val="FF0000"/>
                </a:solidFill>
              </a:rPr>
              <a:t>개의 </a:t>
            </a:r>
            <a:r>
              <a:rPr lang="en-US" altLang="ko-KR" sz="2000" dirty="0">
                <a:solidFill>
                  <a:srgbClr val="FF0000"/>
                </a:solidFill>
              </a:rPr>
              <a:t>reference text</a:t>
            </a:r>
            <a:r>
              <a:rPr lang="ko-KR" altLang="en-US" sz="2000" dirty="0"/>
              <a:t>가 필요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045232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239</Words>
  <Application>Microsoft Office PowerPoint</Application>
  <PresentationFormat>와이드스크린</PresentationFormat>
  <Paragraphs>121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ui-sans-serif</vt:lpstr>
      <vt:lpstr>맑은 고딕</vt:lpstr>
      <vt:lpstr>Arial</vt:lpstr>
      <vt:lpstr>Wingdings</vt:lpstr>
      <vt:lpstr>Office 테마</vt:lpstr>
      <vt:lpstr>카테고리 별 BLEU Score 측정 결과</vt:lpstr>
      <vt:lpstr>PowerPoint 프레젠테이션</vt:lpstr>
      <vt:lpstr>English to Korean (ko-mocab korean tokenization 사용)  </vt:lpstr>
      <vt:lpstr>Comment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김선준</dc:creator>
  <cp:lastModifiedBy>김선준</cp:lastModifiedBy>
  <cp:revision>2</cp:revision>
  <dcterms:created xsi:type="dcterms:W3CDTF">2025-02-07T07:36:59Z</dcterms:created>
  <dcterms:modified xsi:type="dcterms:W3CDTF">2025-02-07T07:45:14Z</dcterms:modified>
</cp:coreProperties>
</file>